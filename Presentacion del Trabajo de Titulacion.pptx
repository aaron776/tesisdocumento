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82" r:id="rId6"/>
    <p:sldId id="283" r:id="rId7"/>
    <p:sldId id="261" r:id="rId8"/>
    <p:sldId id="262" r:id="rId9"/>
    <p:sldId id="266" r:id="rId10"/>
    <p:sldId id="284" r:id="rId11"/>
    <p:sldId id="281" r:id="rId12"/>
    <p:sldId id="285" r:id="rId13"/>
    <p:sldId id="286" r:id="rId14"/>
    <p:sldId id="265" r:id="rId15"/>
    <p:sldId id="287" r:id="rId16"/>
    <p:sldId id="270" r:id="rId17"/>
    <p:sldId id="288" r:id="rId18"/>
    <p:sldId id="269" r:id="rId19"/>
    <p:sldId id="268" r:id="rId20"/>
    <p:sldId id="289" r:id="rId21"/>
    <p:sldId id="277" r:id="rId22"/>
    <p:sldId id="290" r:id="rId23"/>
    <p:sldId id="278" r:id="rId24"/>
    <p:sldId id="279" r:id="rId25"/>
    <p:sldId id="276" r:id="rId26"/>
    <p:sldId id="275" r:id="rId27"/>
    <p:sldId id="274" r:id="rId28"/>
    <p:sldId id="280" r:id="rId29"/>
    <p:sldId id="272" r:id="rId30"/>
    <p:sldId id="27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53" autoAdjust="0"/>
    <p:restoredTop sz="94660"/>
  </p:normalViewPr>
  <p:slideViewPr>
    <p:cSldViewPr snapToGrid="0">
      <p:cViewPr varScale="1">
        <p:scale>
          <a:sx n="70" d="100"/>
          <a:sy n="70" d="100"/>
        </p:scale>
        <p:origin x="74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a:p>
        </p:txBody>
      </p:sp>
      <p:sp>
        <p:nvSpPr>
          <p:cNvPr id="4" name="Marcador de fecha 3"/>
          <p:cNvSpPr>
            <a:spLocks noGrp="1"/>
          </p:cNvSpPr>
          <p:nvPr>
            <p:ph type="dt" sz="half" idx="10"/>
          </p:nvPr>
        </p:nvSpPr>
        <p:spPr/>
        <p:txBody>
          <a:bodyPr/>
          <a:lstStyle/>
          <a:p>
            <a:fld id="{847CAF39-2ED8-4D82-9E96-895FF9463798}" type="datetimeFigureOut">
              <a:rPr lang="en-US" smtClean="0"/>
              <a:t>2/6/2023</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2399099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847CAF39-2ED8-4D82-9E96-895FF9463798}" type="datetimeFigureOut">
              <a:rPr lang="en-US" smtClean="0"/>
              <a:t>2/6/2023</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443403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847CAF39-2ED8-4D82-9E96-895FF9463798}" type="datetimeFigureOut">
              <a:rPr lang="en-US" smtClean="0"/>
              <a:t>2/6/2023</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772117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p:cNvSpPr>
            <a:spLocks noGrp="1"/>
          </p:cNvSpPr>
          <p:nvPr>
            <p:ph type="dt" sz="half" idx="10"/>
          </p:nvPr>
        </p:nvSpPr>
        <p:spPr/>
        <p:txBody>
          <a:bodyPr/>
          <a:lstStyle/>
          <a:p>
            <a:fld id="{847CAF39-2ED8-4D82-9E96-895FF9463798}" type="datetimeFigureOut">
              <a:rPr lang="en-US" smtClean="0"/>
              <a:t>2/6/2023</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2095492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p:cNvSpPr>
            <a:spLocks noGrp="1"/>
          </p:cNvSpPr>
          <p:nvPr>
            <p:ph type="dt" sz="half" idx="10"/>
          </p:nvPr>
        </p:nvSpPr>
        <p:spPr/>
        <p:txBody>
          <a:bodyPr/>
          <a:lstStyle/>
          <a:p>
            <a:fld id="{847CAF39-2ED8-4D82-9E96-895FF9463798}" type="datetimeFigureOut">
              <a:rPr lang="en-US" smtClean="0"/>
              <a:t>2/6/2023</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1643276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fecha 2"/>
          <p:cNvSpPr>
            <a:spLocks noGrp="1"/>
          </p:cNvSpPr>
          <p:nvPr>
            <p:ph type="dt" sz="half" idx="10"/>
          </p:nvPr>
        </p:nvSpPr>
        <p:spPr/>
        <p:txBody>
          <a:bodyPr/>
          <a:lstStyle/>
          <a:p>
            <a:fld id="{847CAF39-2ED8-4D82-9E96-895FF9463798}" type="datetimeFigureOut">
              <a:rPr lang="en-US" smtClean="0"/>
              <a:t>2/6/2023</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3417097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47CAF39-2ED8-4D82-9E96-895FF9463798}" type="datetimeFigureOut">
              <a:rPr lang="en-US" smtClean="0"/>
              <a:t>2/6/2023</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4231602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47CAF39-2ED8-4D82-9E96-895FF9463798}" type="datetimeFigureOut">
              <a:rPr lang="en-US" smtClean="0"/>
              <a:t>2/6/2023</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1829509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47CAF39-2ED8-4D82-9E96-895FF9463798}" type="datetimeFigureOut">
              <a:rPr lang="en-US" smtClean="0"/>
              <a:t>2/6/2023</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3384473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847CAF39-2ED8-4D82-9E96-895FF9463798}" type="datetimeFigureOut">
              <a:rPr lang="en-US" smtClean="0"/>
              <a:t>2/6/2023</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249083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847CAF39-2ED8-4D82-9E96-895FF9463798}" type="datetimeFigureOut">
              <a:rPr lang="en-US" smtClean="0"/>
              <a:t>2/6/2023</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9E23E291-EA8C-40CE-9897-F8ECB82ED1CC}" type="slidenum">
              <a:rPr lang="en-US" smtClean="0"/>
              <a:t>‹Nº›</a:t>
            </a:fld>
            <a:endParaRPr lang="en-US"/>
          </a:p>
        </p:txBody>
      </p:sp>
    </p:spTree>
    <p:extLst>
      <p:ext uri="{BB962C8B-B14F-4D97-AF65-F5344CB8AC3E}">
        <p14:creationId xmlns:p14="http://schemas.microsoft.com/office/powerpoint/2010/main" val="3489040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7CAF39-2ED8-4D82-9E96-895FF9463798}" type="datetimeFigureOut">
              <a:rPr lang="en-US" smtClean="0"/>
              <a:t>2/6/2023</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3E291-EA8C-40CE-9897-F8ECB82ED1CC}" type="slidenum">
              <a:rPr lang="en-US" smtClean="0"/>
              <a:t>‹Nº›</a:t>
            </a:fld>
            <a:endParaRPr lang="en-US"/>
          </a:p>
        </p:txBody>
      </p:sp>
    </p:spTree>
    <p:extLst>
      <p:ext uri="{BB962C8B-B14F-4D97-AF65-F5344CB8AC3E}">
        <p14:creationId xmlns:p14="http://schemas.microsoft.com/office/powerpoint/2010/main" val="112521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61284" y="112538"/>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12" name="CuadroTexto 11"/>
          <p:cNvSpPr txBox="1"/>
          <p:nvPr/>
        </p:nvSpPr>
        <p:spPr>
          <a:xfrm>
            <a:off x="1273958" y="1418704"/>
            <a:ext cx="8887326" cy="2062103"/>
          </a:xfrm>
          <a:prstGeom prst="rect">
            <a:avLst/>
          </a:prstGeom>
          <a:noFill/>
        </p:spPr>
        <p:txBody>
          <a:bodyPr wrap="square" rtlCol="0">
            <a:spAutoFit/>
          </a:bodyPr>
          <a:lstStyle/>
          <a:p>
            <a:pPr algn="ctr"/>
            <a:r>
              <a:rPr lang="es-ES" sz="3200" b="1" dirty="0">
                <a:latin typeface="Arial" panose="020B0604020202020204" pitchFamily="34" charset="0"/>
                <a:cs typeface="Arial" panose="020B0604020202020204" pitchFamily="34" charset="0"/>
              </a:rPr>
              <a:t>Aplicación Web para el control de docentes invitados en clases virtuales y presenciales en la Universidad Iberoamericana del Ecuador</a:t>
            </a:r>
            <a:endParaRPr lang="en-US" sz="3200" b="1" dirty="0">
              <a:latin typeface="Arial" panose="020B0604020202020204" pitchFamily="34" charset="0"/>
              <a:cs typeface="Arial" panose="020B0604020202020204" pitchFamily="34" charset="0"/>
            </a:endParaRPr>
          </a:p>
        </p:txBody>
      </p:sp>
      <p:sp>
        <p:nvSpPr>
          <p:cNvPr id="13" name="CuadroTexto 12"/>
          <p:cNvSpPr txBox="1"/>
          <p:nvPr/>
        </p:nvSpPr>
        <p:spPr>
          <a:xfrm>
            <a:off x="4026360" y="3992166"/>
            <a:ext cx="2951748" cy="1015663"/>
          </a:xfrm>
          <a:prstGeom prst="rect">
            <a:avLst/>
          </a:prstGeom>
          <a:noFill/>
        </p:spPr>
        <p:txBody>
          <a:bodyPr wrap="square" rtlCol="0">
            <a:spAutoFit/>
          </a:bodyPr>
          <a:lstStyle/>
          <a:p>
            <a:pPr algn="ctr"/>
            <a:r>
              <a:rPr lang="es-ES" sz="2000" b="1" dirty="0">
                <a:latin typeface="Arial" panose="020B0604020202020204" pitchFamily="34" charset="0"/>
                <a:cs typeface="Arial" panose="020B0604020202020204" pitchFamily="34" charset="0"/>
              </a:rPr>
              <a:t>Autor(es):</a:t>
            </a:r>
          </a:p>
          <a:p>
            <a:pPr algn="ctr"/>
            <a:r>
              <a:rPr lang="es-ES" sz="2000" dirty="0">
                <a:latin typeface="Arial" panose="020B0604020202020204" pitchFamily="34" charset="0"/>
                <a:cs typeface="Arial" panose="020B0604020202020204" pitchFamily="34" charset="0"/>
              </a:rPr>
              <a:t>Aaron Patricio Ortiz Alban</a:t>
            </a:r>
            <a:endParaRPr lang="en-US" sz="2000" dirty="0">
              <a:latin typeface="Arial" panose="020B0604020202020204" pitchFamily="34" charset="0"/>
              <a:cs typeface="Arial" panose="020B0604020202020204" pitchFamily="34" charset="0"/>
            </a:endParaRPr>
          </a:p>
        </p:txBody>
      </p:sp>
      <p:sp>
        <p:nvSpPr>
          <p:cNvPr id="14" name="CuadroTexto 13"/>
          <p:cNvSpPr txBox="1"/>
          <p:nvPr/>
        </p:nvSpPr>
        <p:spPr>
          <a:xfrm>
            <a:off x="3912694" y="5053995"/>
            <a:ext cx="3497180" cy="707886"/>
          </a:xfrm>
          <a:prstGeom prst="rect">
            <a:avLst/>
          </a:prstGeom>
          <a:noFill/>
        </p:spPr>
        <p:txBody>
          <a:bodyPr wrap="square" rtlCol="0">
            <a:spAutoFit/>
          </a:bodyPr>
          <a:lstStyle/>
          <a:p>
            <a:pPr algn="ctr"/>
            <a:r>
              <a:rPr lang="es-ES" sz="2000" dirty="0">
                <a:latin typeface="Arial" panose="020B0604020202020204" pitchFamily="34" charset="0"/>
                <a:cs typeface="Arial" panose="020B0604020202020204" pitchFamily="34" charset="0"/>
              </a:rPr>
              <a:t>Fecha de la defensa oral</a:t>
            </a:r>
          </a:p>
          <a:p>
            <a:pPr algn="ctr"/>
            <a:r>
              <a:rPr lang="es-ES" sz="2000" dirty="0">
                <a:latin typeface="Arial" panose="020B0604020202020204" pitchFamily="34" charset="0"/>
                <a:cs typeface="Arial" panose="020B0604020202020204" pitchFamily="34" charset="0"/>
              </a:rPr>
              <a:t>05 de agosto de 2020</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1776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68488" y="234612"/>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3" name="CuadroTexto 2"/>
          <p:cNvSpPr txBox="1"/>
          <p:nvPr/>
        </p:nvSpPr>
        <p:spPr>
          <a:xfrm>
            <a:off x="1026696" y="2692759"/>
            <a:ext cx="9721516" cy="1646605"/>
          </a:xfrm>
          <a:prstGeom prst="rect">
            <a:avLst/>
          </a:prstGeom>
          <a:noFill/>
        </p:spPr>
        <p:txBody>
          <a:bodyPr wrap="square" rtlCol="0">
            <a:spAutoFit/>
          </a:bodyPr>
          <a:lstStyle/>
          <a:p>
            <a:pPr algn="just">
              <a:lnSpc>
                <a:spcPct val="150000"/>
              </a:lnSpc>
            </a:pPr>
            <a:r>
              <a:rPr lang="es-ES" dirty="0">
                <a:latin typeface="Arial" panose="020B0604020202020204" pitchFamily="34" charset="0"/>
                <a:cs typeface="Arial" panose="020B0604020202020204" pitchFamily="34" charset="0"/>
              </a:rPr>
              <a:t>Esta solución tecnológica nace ante la problemática de no tener una aplicación web estandarizada para el control de los docentes invitados en clases virtuales y presenciales en la Universidad Iberoamericana del Ecuador.</a:t>
            </a:r>
          </a:p>
          <a:p>
            <a:pPr algn="just"/>
            <a:endParaRPr lang="es-ES" sz="2000" dirty="0">
              <a:latin typeface="Arial" panose="020B0604020202020204" pitchFamily="34" charset="0"/>
              <a:cs typeface="Arial" panose="020B0604020202020204" pitchFamily="34" charset="0"/>
            </a:endParaRPr>
          </a:p>
        </p:txBody>
      </p:sp>
      <p:sp>
        <p:nvSpPr>
          <p:cNvPr id="4" name="CuadroTexto 3"/>
          <p:cNvSpPr txBox="1"/>
          <p:nvPr/>
        </p:nvSpPr>
        <p:spPr>
          <a:xfrm>
            <a:off x="1026696" y="1604210"/>
            <a:ext cx="4844716" cy="461665"/>
          </a:xfrm>
          <a:prstGeom prst="rect">
            <a:avLst/>
          </a:prstGeom>
          <a:noFill/>
        </p:spPr>
        <p:txBody>
          <a:bodyPr wrap="square" rtlCol="0">
            <a:spAutoFit/>
          </a:bodyPr>
          <a:lstStyle/>
          <a:p>
            <a:r>
              <a:rPr lang="es-ES" sz="2400" b="1" dirty="0">
                <a:latin typeface="Arial" panose="020B0604020202020204" pitchFamily="34" charset="0"/>
                <a:cs typeface="Arial" panose="020B0604020202020204" pitchFamily="34" charset="0"/>
              </a:rPr>
              <a:t>Idea de investigación </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8643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73158" y="198301"/>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9" name="CuadroTexto 8"/>
          <p:cNvSpPr txBox="1"/>
          <p:nvPr/>
        </p:nvSpPr>
        <p:spPr>
          <a:xfrm>
            <a:off x="1173158" y="2562801"/>
            <a:ext cx="9721516" cy="1754326"/>
          </a:xfrm>
          <a:prstGeom prst="rect">
            <a:avLst/>
          </a:prstGeom>
          <a:noFill/>
        </p:spPr>
        <p:txBody>
          <a:bodyPr wrap="square" rtlCol="0">
            <a:spAutoFit/>
          </a:bodyPr>
          <a:lstStyle/>
          <a:p>
            <a:pPr algn="ctr"/>
            <a:r>
              <a:rPr lang="es-ES" sz="5400" b="1" dirty="0">
                <a:latin typeface="Arial" panose="020B0604020202020204" pitchFamily="34" charset="0"/>
                <a:cs typeface="Arial" panose="020B0604020202020204" pitchFamily="34" charset="0"/>
              </a:rPr>
              <a:t>CAPÍTULO #1</a:t>
            </a:r>
          </a:p>
          <a:p>
            <a:pPr algn="ctr"/>
            <a:r>
              <a:rPr lang="es-ES" sz="5400" b="1" dirty="0">
                <a:latin typeface="Arial" panose="020B0604020202020204" pitchFamily="34" charset="0"/>
                <a:cs typeface="Arial" panose="020B0604020202020204" pitchFamily="34" charset="0"/>
              </a:rPr>
              <a:t>EL PROBLEMA </a:t>
            </a:r>
            <a:endParaRPr lang="en-US" sz="4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2384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49407" y="150527"/>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513348" y="1604210"/>
            <a:ext cx="5582652"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1.1 Problema de Investigación </a:t>
            </a:r>
            <a:endParaRPr lang="en-US" sz="2400" b="1" dirty="0">
              <a:latin typeface="Arial" panose="020B0604020202020204" pitchFamily="34" charset="0"/>
              <a:cs typeface="Arial" panose="020B0604020202020204" pitchFamily="34" charset="0"/>
            </a:endParaRPr>
          </a:p>
        </p:txBody>
      </p:sp>
      <p:sp>
        <p:nvSpPr>
          <p:cNvPr id="9" name="CuadroTexto 8"/>
          <p:cNvSpPr txBox="1"/>
          <p:nvPr/>
        </p:nvSpPr>
        <p:spPr>
          <a:xfrm>
            <a:off x="994610" y="2453241"/>
            <a:ext cx="9721516" cy="2118529"/>
          </a:xfrm>
          <a:prstGeom prst="rect">
            <a:avLst/>
          </a:prstGeom>
          <a:noFill/>
        </p:spPr>
        <p:txBody>
          <a:bodyPr wrap="square" rtlCol="0">
            <a:spAutoFit/>
          </a:bodyPr>
          <a:lstStyle/>
          <a:p>
            <a:pPr algn="just">
              <a:lnSpc>
                <a:spcPct val="150000"/>
              </a:lnSpc>
              <a:spcAft>
                <a:spcPts val="800"/>
              </a:spcAft>
            </a:pPr>
            <a:r>
              <a:rPr lang="es-EC" dirty="0">
                <a:effectLst/>
                <a:latin typeface="Arial" panose="020B0604020202020204" pitchFamily="34" charset="0"/>
                <a:ea typeface="Calibri" panose="020F0502020204030204" pitchFamily="34" charset="0"/>
                <a:cs typeface="Arial" panose="020B0604020202020204" pitchFamily="34" charset="0"/>
              </a:rPr>
              <a:t>Los avances tecnológicos de la informática, las telecomunicaciones y sobre todo la computación han hecho que las empresas, negocios u organizaciones incorporen un enfoque diferente al habitual en lo que corresponde con el manejo de información y automatización del proceso dentro de cada una de las áreas para poder reducir tiempos de ejecución y costes; además, gestionan los servicios para obtener resultados eficaces y eficientes.</a:t>
            </a:r>
          </a:p>
        </p:txBody>
      </p:sp>
    </p:spTree>
    <p:extLst>
      <p:ext uri="{BB962C8B-B14F-4D97-AF65-F5344CB8AC3E}">
        <p14:creationId xmlns:p14="http://schemas.microsoft.com/office/powerpoint/2010/main" val="281164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49407" y="150527"/>
            <a:ext cx="9000000" cy="1260000"/>
          </a:xfrm>
          <a:prstGeom prst="rect">
            <a:avLst/>
          </a:prstGeom>
          <a:extLst>
            <a:ext uri="{FAA26D3D-D897-4be2-8F04-BA451C77F1D7}">
              <ma14:placeholderFlag xmlns:wpc="http://schemas.microsoft.com/office/word/2010/wordprocessingCanvas" xmlns:cx="http://schemas.microsoft.com/office/drawing/2014/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ex="http://schemas.microsoft.com/office/word/2018/wordml/cex" xmlns:w16cid="http://schemas.microsoft.com/office/word/2016/wordml/cid" xmlns:w16="http://schemas.microsoft.com/office/word/2018/wordml"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val="1"/>
            </a:ext>
          </a:extLst>
        </p:spPr>
      </p:pic>
      <p:sp>
        <p:nvSpPr>
          <p:cNvPr id="8" name="CuadroTexto 7"/>
          <p:cNvSpPr txBox="1"/>
          <p:nvPr/>
        </p:nvSpPr>
        <p:spPr>
          <a:xfrm>
            <a:off x="513348" y="1604210"/>
            <a:ext cx="5582652"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1.1 Problema de Investigación </a:t>
            </a:r>
            <a:endParaRPr lang="en-US" sz="2400" b="1" dirty="0">
              <a:latin typeface="Arial" panose="020B0604020202020204" pitchFamily="34" charset="0"/>
              <a:cs typeface="Arial" panose="020B0604020202020204" pitchFamily="34" charset="0"/>
            </a:endParaRPr>
          </a:p>
        </p:txBody>
      </p:sp>
      <p:sp>
        <p:nvSpPr>
          <p:cNvPr id="9" name="CuadroTexto 8"/>
          <p:cNvSpPr txBox="1"/>
          <p:nvPr/>
        </p:nvSpPr>
        <p:spPr>
          <a:xfrm>
            <a:off x="994610" y="2453241"/>
            <a:ext cx="9721516" cy="1709571"/>
          </a:xfrm>
          <a:prstGeom prst="rect">
            <a:avLst/>
          </a:prstGeom>
          <a:noFill/>
        </p:spPr>
        <p:txBody>
          <a:bodyPr wrap="square" rtlCol="0">
            <a:spAutoFit/>
          </a:bodyPr>
          <a:lstStyle/>
          <a:p>
            <a:pPr algn="just">
              <a:lnSpc>
                <a:spcPct val="150000"/>
              </a:lnSpc>
              <a:spcAft>
                <a:spcPts val="800"/>
              </a:spcAft>
            </a:pPr>
            <a:r>
              <a:rPr lang="es-EC" dirty="0">
                <a:effectLst/>
                <a:latin typeface="Arial" panose="020B0604020202020204" pitchFamily="34" charset="0"/>
                <a:ea typeface="Calibri" panose="020F0502020204030204" pitchFamily="34" charset="0"/>
                <a:cs typeface="Times New Roman" panose="02020603050405020304" pitchFamily="18" charset="0"/>
              </a:rPr>
              <a:t>En la actualidad los avances tecnológicos han facilitado los procesos con mayor rapidez y eficacia, debido a su accesibilidad y portabilidad, lo cual ha motivado a la población a utilizar diferentes aplicaciones para satisfacer las necesidades diarias en su vida cotidiana, ya que el alcance de estas y sus funcionalidades aumenta con el pasar del tiempo.</a:t>
            </a:r>
            <a:endParaRPr lang="es-EC"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0119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49407" y="150527"/>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513348" y="1604210"/>
            <a:ext cx="5582652"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1.1 Problema de Investigación </a:t>
            </a:r>
            <a:endParaRPr lang="en-US" sz="2400" b="1" dirty="0">
              <a:latin typeface="Arial" panose="020B0604020202020204" pitchFamily="34" charset="0"/>
              <a:cs typeface="Arial" panose="020B0604020202020204" pitchFamily="34" charset="0"/>
            </a:endParaRPr>
          </a:p>
        </p:txBody>
      </p:sp>
      <p:sp>
        <p:nvSpPr>
          <p:cNvPr id="9" name="CuadroTexto 8"/>
          <p:cNvSpPr txBox="1"/>
          <p:nvPr/>
        </p:nvSpPr>
        <p:spPr>
          <a:xfrm>
            <a:off x="967315" y="2155496"/>
            <a:ext cx="9721516" cy="2956066"/>
          </a:xfrm>
          <a:prstGeom prst="rect">
            <a:avLst/>
          </a:prstGeom>
          <a:noFill/>
        </p:spPr>
        <p:txBody>
          <a:bodyPr wrap="square" rtlCol="0">
            <a:spAutoFit/>
          </a:bodyPr>
          <a:lstStyle/>
          <a:p>
            <a:pPr algn="just">
              <a:lnSpc>
                <a:spcPct val="150000"/>
              </a:lnSpc>
              <a:spcAft>
                <a:spcPts val="800"/>
              </a:spcAft>
            </a:pPr>
            <a:r>
              <a:rPr lang="es-EC" dirty="0">
                <a:effectLst/>
                <a:latin typeface="Arial" panose="020B0604020202020204" pitchFamily="34" charset="0"/>
                <a:ea typeface="Calibri" panose="020F0502020204030204" pitchFamily="34" charset="0"/>
              </a:rPr>
              <a:t>En el área del desarrollo podemos entender que la automatización de procesos es una de las herramientas más poderosas ya que aumenta la productividad en todas las actividades administrativas, en Ecuador, la Universidad Iberoamericana del Ecuador al ofrecer profesionales en el desarrollo de software ayudará activamente en la producción de nuevos sistemas, es por eso que este trabajo de titulación expone una solución en la implementación de un aplicación que automatice un proceso el cual facilitará el control de los docentes invitados en clases virtuales y presenciales.</a:t>
            </a:r>
            <a:endParaRPr lang="es-EC"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4827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85034" y="171363"/>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481265" y="1634129"/>
            <a:ext cx="5582652"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1.1 Problema de Investigación </a:t>
            </a:r>
            <a:endParaRPr lang="en-US" sz="2000" b="1" dirty="0">
              <a:latin typeface="Arial" panose="020B0604020202020204" pitchFamily="34" charset="0"/>
              <a:cs typeface="Arial" panose="020B0604020202020204" pitchFamily="34" charset="0"/>
            </a:endParaRPr>
          </a:p>
        </p:txBody>
      </p:sp>
      <p:sp>
        <p:nvSpPr>
          <p:cNvPr id="9" name="CuadroTexto 8"/>
          <p:cNvSpPr txBox="1"/>
          <p:nvPr/>
        </p:nvSpPr>
        <p:spPr>
          <a:xfrm>
            <a:off x="1017057" y="2095794"/>
            <a:ext cx="9721516" cy="4201150"/>
          </a:xfrm>
          <a:prstGeom prst="rect">
            <a:avLst/>
          </a:prstGeom>
          <a:noFill/>
        </p:spPr>
        <p:txBody>
          <a:bodyPr wrap="square" rtlCol="0">
            <a:spAutoFit/>
          </a:bodyPr>
          <a:lstStyle/>
          <a:p>
            <a:pPr algn="just">
              <a:lnSpc>
                <a:spcPct val="150000"/>
              </a:lnSpc>
            </a:pPr>
            <a:r>
              <a:rPr lang="es-EC" dirty="0">
                <a:effectLst/>
                <a:latin typeface="Arial" panose="020B0604020202020204" pitchFamily="34" charset="0"/>
                <a:ea typeface="Calibri" panose="020F0502020204030204" pitchFamily="34" charset="0"/>
                <a:cs typeface="Times New Roman" panose="02020603050405020304" pitchFamily="18" charset="0"/>
              </a:rPr>
              <a:t>En la actualidad, el proceso para llevar un control de docentes invitados en clases virtuales y presenciales se realiza de forma manual o en otras palabras </a:t>
            </a:r>
            <a:r>
              <a:rPr lang="es-EC" dirty="0">
                <a:effectLst/>
                <a:latin typeface="Arial" panose="020B0604020202020204" pitchFamily="34" charset="0"/>
                <a:ea typeface="Calibri" panose="020F0502020204030204" pitchFamily="34" charset="0"/>
              </a:rPr>
              <a:t>, a través de reportes virtuales mediante ZOOM y un archivo en Excel por parte del biométrico físico el personal administrativo debe generar una matriz con la información recolectada, lo cual provoca una probabilidad alta de que se comentan errores, esto quiere decir que la automatización es fundamental para que la Universidad Iberoamericana del Ecuador (UNIB.E) cumpla con la premisa de automatizar actividades administrativas.</a:t>
            </a:r>
            <a:endParaRPr lang="es-EC" dirty="0">
              <a:effectLst/>
              <a:latin typeface="Arial" panose="020B0604020202020204" pitchFamily="34" charset="0"/>
              <a:ea typeface="Calibri" panose="020F0502020204030204" pitchFamily="34" charset="0"/>
              <a:cs typeface="Times New Roman" panose="02020603050405020304" pitchFamily="18" charset="0"/>
            </a:endParaRPr>
          </a:p>
          <a:p>
            <a:pPr algn="just"/>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ES" sz="2000" dirty="0">
              <a:latin typeface="Arial" panose="020B0604020202020204" pitchFamily="34" charset="0"/>
              <a:cs typeface="Arial" panose="020B0604020202020204" pitchFamily="34" charset="0"/>
            </a:endParaRPr>
          </a:p>
          <a:p>
            <a:pPr algn="ctr"/>
            <a:endParaRPr lang="es-ES" sz="2000" dirty="0">
              <a:latin typeface="Arial" panose="020B0604020202020204" pitchFamily="34" charset="0"/>
              <a:cs typeface="Arial" panose="020B0604020202020204" pitchFamily="34" charset="0"/>
            </a:endParaRPr>
          </a:p>
          <a:p>
            <a:pPr algn="ctr"/>
            <a:r>
              <a:rPr lang="es-ES" sz="2000" dirty="0">
                <a:latin typeface="Arial" panose="020B0604020202020204" pitchFamily="34" charset="0"/>
                <a:cs typeface="Arial" panose="020B0604020202020204" pitchFamily="34" charset="0"/>
              </a:rPr>
              <a:t>.</a:t>
            </a:r>
            <a:endParaRPr lang="es-E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7216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94949" y="234612"/>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2903623" y="1604210"/>
            <a:ext cx="5582652"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Preguntas de Investigación</a:t>
            </a:r>
            <a:endParaRPr lang="en-US" sz="2000" b="1" dirty="0">
              <a:latin typeface="Arial" panose="020B0604020202020204" pitchFamily="34" charset="0"/>
              <a:cs typeface="Arial" panose="020B0604020202020204" pitchFamily="34" charset="0"/>
            </a:endParaRPr>
          </a:p>
        </p:txBody>
      </p:sp>
      <p:sp>
        <p:nvSpPr>
          <p:cNvPr id="9" name="Rectángulo 8"/>
          <p:cNvSpPr/>
          <p:nvPr/>
        </p:nvSpPr>
        <p:spPr>
          <a:xfrm>
            <a:off x="1010653" y="2499982"/>
            <a:ext cx="10118557" cy="2257028"/>
          </a:xfrm>
          <a:prstGeom prst="rect">
            <a:avLst/>
          </a:prstGeom>
        </p:spPr>
        <p:txBody>
          <a:bodyPr wrap="square">
            <a:spAutoFit/>
          </a:bodyPr>
          <a:lstStyle/>
          <a:p>
            <a:pPr algn="just">
              <a:lnSpc>
                <a:spcPct val="150000"/>
              </a:lnSpc>
              <a:spcAft>
                <a:spcPts val="800"/>
              </a:spcAft>
            </a:pPr>
            <a:r>
              <a:rPr lang="es-EC" dirty="0">
                <a:effectLst/>
                <a:latin typeface="Arial" panose="020B0604020202020204" pitchFamily="34" charset="0"/>
                <a:ea typeface="Calibri" panose="020F0502020204030204" pitchFamily="34" charset="0"/>
                <a:cs typeface="Arial" panose="020B0604020202020204" pitchFamily="34" charset="0"/>
              </a:rPr>
              <a:t>¿Cómo ayudaría el desarrollo de una aplicación web para </a:t>
            </a:r>
            <a:r>
              <a:rPr lang="es-EC" dirty="0">
                <a:solidFill>
                  <a:srgbClr val="000000"/>
                </a:solidFill>
                <a:effectLst/>
                <a:latin typeface="Arial" panose="020B0604020202020204" pitchFamily="34" charset="0"/>
                <a:ea typeface="Calibri" panose="020F0502020204030204" pitchFamily="34" charset="0"/>
                <a:cs typeface="Arial" panose="020B0604020202020204" pitchFamily="34" charset="0"/>
              </a:rPr>
              <a:t>el control de docentes invitados en clases virtuales y presenciales en la Universidad Iberoamericana del Ecuador</a:t>
            </a:r>
            <a:r>
              <a:rPr lang="es-EC" dirty="0">
                <a:effectLst/>
                <a:latin typeface="Arial" panose="020B0604020202020204" pitchFamily="34" charset="0"/>
                <a:ea typeface="Calibri" panose="020F0502020204030204" pitchFamily="34" charset="0"/>
                <a:cs typeface="Arial" panose="020B0604020202020204" pitchFamily="34" charset="0"/>
              </a:rPr>
              <a:t>?</a:t>
            </a: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5948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41907" y="292773"/>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9" name="CuadroTexto 8"/>
          <p:cNvSpPr txBox="1"/>
          <p:nvPr/>
        </p:nvSpPr>
        <p:spPr>
          <a:xfrm>
            <a:off x="0" y="1611510"/>
            <a:ext cx="6978315"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1.2 Objetivos de la Investigación </a:t>
            </a:r>
            <a:endParaRPr lang="en-US" sz="2000" b="1" dirty="0">
              <a:latin typeface="Arial" panose="020B0604020202020204" pitchFamily="34" charset="0"/>
              <a:cs typeface="Arial" panose="020B0604020202020204" pitchFamily="34" charset="0"/>
            </a:endParaRPr>
          </a:p>
        </p:txBody>
      </p:sp>
      <p:sp>
        <p:nvSpPr>
          <p:cNvPr id="12" name="Rectángulo 11"/>
          <p:cNvSpPr/>
          <p:nvPr/>
        </p:nvSpPr>
        <p:spPr>
          <a:xfrm>
            <a:off x="1141907" y="2131912"/>
            <a:ext cx="10186737" cy="4647426"/>
          </a:xfrm>
          <a:prstGeom prst="rect">
            <a:avLst/>
          </a:prstGeom>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Objetivo General</a:t>
            </a:r>
          </a:p>
          <a:p>
            <a:pPr marL="285750" indent="-285750" algn="just">
              <a:lnSpc>
                <a:spcPct val="150000"/>
              </a:lnSpc>
              <a:buFontTx/>
              <a:buChar char="-"/>
            </a:pPr>
            <a:r>
              <a:rPr lang="es-EC"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Desarrollar una aplicación web para el control de docentes invitados en clases virtuales y presenciales en la Universidad Iberoamericana del Ecuador.</a:t>
            </a:r>
          </a:p>
          <a:p>
            <a:pPr algn="just">
              <a:lnSpc>
                <a:spcPct val="150000"/>
              </a:lnSpc>
            </a:pPr>
            <a:endParaRPr lang="es-EC" dirty="0">
              <a:latin typeface="Arial" panose="020B0604020202020204" pitchFamily="34" charset="0"/>
              <a:ea typeface="Calibri" panose="020F0502020204030204" pitchFamily="34" charset="0"/>
              <a:cs typeface="Times New Roman" panose="02020603050405020304" pitchFamily="18" charset="0"/>
            </a:endParaRPr>
          </a:p>
          <a:p>
            <a:pPr algn="just">
              <a:lnSpc>
                <a:spcPct val="150000"/>
              </a:lnSpc>
            </a:pPr>
            <a:r>
              <a:rPr lang="es-EC" dirty="0">
                <a:latin typeface="Arial" panose="020B0604020202020204" pitchFamily="34" charset="0"/>
                <a:ea typeface="Calibri" panose="020F0502020204030204" pitchFamily="34" charset="0"/>
                <a:cs typeface="Times New Roman" panose="02020603050405020304" pitchFamily="18" charset="0"/>
              </a:rPr>
              <a:t>Objetivos Específicos</a:t>
            </a:r>
          </a:p>
          <a:p>
            <a:pPr marL="285750" indent="-285750" algn="just">
              <a:lnSpc>
                <a:spcPct val="150000"/>
              </a:lnSpc>
              <a:buFontTx/>
              <a:buChar char="-"/>
            </a:pPr>
            <a:r>
              <a:rPr lang="es-EC" dirty="0">
                <a:solidFill>
                  <a:srgbClr val="000000"/>
                </a:solidFill>
                <a:effectLst/>
                <a:latin typeface="Arial" panose="020B0604020202020204" pitchFamily="34" charset="0"/>
                <a:ea typeface="Calibri" panose="020F0502020204030204" pitchFamily="34" charset="0"/>
                <a:cs typeface="Arial" panose="020B0604020202020204" pitchFamily="34" charset="0"/>
              </a:rPr>
              <a:t>Determinar los requerimientos funcionales y no funcionales de la aplicación web para el control de docentes invitados en clases virtuales y presenciales en la Universidad Iberoamericana del Ecuador considerando las necesidades de los usuarios.</a:t>
            </a:r>
            <a:endParaRPr lang="es-EC" dirty="0">
              <a:effectLst/>
              <a:latin typeface="Calibri" panose="020F0502020204030204" pitchFamily="34" charset="0"/>
              <a:ea typeface="Calibri" panose="020F0502020204030204" pitchFamily="34" charset="0"/>
              <a:cs typeface="Arial" panose="020B0604020202020204" pitchFamily="34" charset="0"/>
            </a:endParaRPr>
          </a:p>
          <a:p>
            <a:pPr algn="just"/>
            <a:endParaRPr lang="es-EC"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7333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41907" y="292773"/>
            <a:ext cx="9000000" cy="1260000"/>
          </a:xfrm>
          <a:prstGeom prst="rect">
            <a:avLst/>
          </a:prstGeom>
          <a:extLst>
            <a:ext uri="{FAA26D3D-D897-4be2-8F04-BA451C77F1D7}">
              <ma14:placeholderFlag xmlns:wpc="http://schemas.microsoft.com/office/word/2010/wordprocessingCanvas" xmlns:cx="http://schemas.microsoft.com/office/drawing/2014/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ex="http://schemas.microsoft.com/office/word/2018/wordml/cex" xmlns:w16cid="http://schemas.microsoft.com/office/word/2016/wordml/cid" xmlns:w16="http://schemas.microsoft.com/office/word/2018/wordml"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val="1"/>
            </a:ext>
          </a:extLst>
        </p:spPr>
      </p:pic>
      <p:sp>
        <p:nvSpPr>
          <p:cNvPr id="9" name="CuadroTexto 8"/>
          <p:cNvSpPr txBox="1"/>
          <p:nvPr/>
        </p:nvSpPr>
        <p:spPr>
          <a:xfrm>
            <a:off x="0" y="1611510"/>
            <a:ext cx="6978315"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1.2 Objetivos de la Investigación </a:t>
            </a:r>
            <a:endParaRPr lang="en-US" sz="2000" b="1" dirty="0">
              <a:latin typeface="Arial" panose="020B0604020202020204" pitchFamily="34" charset="0"/>
              <a:cs typeface="Arial" panose="020B0604020202020204" pitchFamily="34" charset="0"/>
            </a:endParaRPr>
          </a:p>
        </p:txBody>
      </p:sp>
      <p:sp>
        <p:nvSpPr>
          <p:cNvPr id="12" name="Rectángulo 11"/>
          <p:cNvSpPr/>
          <p:nvPr/>
        </p:nvSpPr>
        <p:spPr>
          <a:xfrm>
            <a:off x="1141907" y="2345696"/>
            <a:ext cx="10186737" cy="3970318"/>
          </a:xfrm>
          <a:prstGeom prst="rect">
            <a:avLst/>
          </a:prstGeom>
        </p:spPr>
        <p:txBody>
          <a:bodyPr wrap="square">
            <a:spAutoFit/>
          </a:bodyPr>
          <a:lstStyle/>
          <a:p>
            <a:pPr marL="285750" indent="-285750" algn="just">
              <a:lnSpc>
                <a:spcPct val="150000"/>
              </a:lnSpc>
              <a:buFontTx/>
              <a:buChar char="-"/>
            </a:pPr>
            <a:r>
              <a:rPr lang="es-EC" dirty="0">
                <a:effectLst/>
                <a:latin typeface="Arial" panose="020B0604020202020204" pitchFamily="34" charset="0"/>
                <a:ea typeface="Calibri" panose="020F0502020204030204" pitchFamily="34" charset="0"/>
                <a:cs typeface="Arial" panose="020B0604020202020204" pitchFamily="34" charset="0"/>
              </a:rPr>
              <a:t>Desarrollar la aplicación web que permita el control de docentes invitados en clases virtuales y presenciales en la Universidad Iberoamericana del Ecuador a través del uso del framework Laravel para backend y el frontend utilizando el lenguaje de programación base PHP y MYSQL para la base de datos.</a:t>
            </a:r>
          </a:p>
          <a:p>
            <a:pPr marL="285750" indent="-285750" algn="just">
              <a:lnSpc>
                <a:spcPct val="150000"/>
              </a:lnSpc>
              <a:buFontTx/>
              <a:buChar char="-"/>
            </a:pPr>
            <a:r>
              <a:rPr lang="es-EC" dirty="0">
                <a:effectLst/>
                <a:latin typeface="Arial" panose="020B0604020202020204" pitchFamily="34" charset="0"/>
                <a:ea typeface="Calibri" panose="020F0502020204030204" pitchFamily="34" charset="0"/>
                <a:cs typeface="Arial" panose="020B0604020202020204" pitchFamily="34" charset="0"/>
              </a:rPr>
              <a:t>Realizar las pruebas de la aplicación web para el control de docentes invitados en clases virtuales y presenciales en la Universidad Iberoamericana del Ecuador.</a:t>
            </a:r>
            <a:endParaRPr lang="es-EC"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50000"/>
              </a:lnSpc>
            </a:pPr>
            <a:endParaRPr lang="es-EC"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1692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41907" y="292773"/>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9" name="CuadroTexto 8"/>
          <p:cNvSpPr txBox="1"/>
          <p:nvPr/>
        </p:nvSpPr>
        <p:spPr>
          <a:xfrm>
            <a:off x="0" y="1611510"/>
            <a:ext cx="6978315"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1.3 Justificación de la Investigación </a:t>
            </a:r>
            <a:endParaRPr lang="en-US" sz="2000" b="1" dirty="0">
              <a:latin typeface="Arial" panose="020B0604020202020204" pitchFamily="34" charset="0"/>
              <a:cs typeface="Arial" panose="020B0604020202020204" pitchFamily="34" charset="0"/>
            </a:endParaRPr>
          </a:p>
        </p:txBody>
      </p:sp>
      <p:sp>
        <p:nvSpPr>
          <p:cNvPr id="2" name="Rectángulo 1"/>
          <p:cNvSpPr/>
          <p:nvPr/>
        </p:nvSpPr>
        <p:spPr>
          <a:xfrm>
            <a:off x="861582" y="2105134"/>
            <a:ext cx="10022774" cy="4409540"/>
          </a:xfrm>
          <a:prstGeom prst="rect">
            <a:avLst/>
          </a:prstGeom>
        </p:spPr>
        <p:txBody>
          <a:bodyPr wrap="square">
            <a:spAutoFit/>
          </a:bodyPr>
          <a:lstStyle/>
          <a:p>
            <a:pPr algn="just">
              <a:lnSpc>
                <a:spcPct val="150000"/>
              </a:lnSpc>
              <a:spcAft>
                <a:spcPts val="800"/>
              </a:spcAft>
            </a:pPr>
            <a:r>
              <a:rPr lang="es-EC" sz="1800" dirty="0">
                <a:effectLst/>
                <a:latin typeface="Arial" panose="020B0604020202020204" pitchFamily="34" charset="0"/>
                <a:ea typeface="Calibri" panose="020F0502020204030204" pitchFamily="34" charset="0"/>
                <a:cs typeface="Times New Roman" panose="02020603050405020304" pitchFamily="18" charset="0"/>
              </a:rPr>
              <a:t>El propósito de la solución se basa en brindar una ayuda tecnológica para el personal administrativo y docentes en la Universidad Iberoamericana del Ecuador. Con la ayuda de una aplicación web, se podrá disminuir los tiempos de ejecución de datos como: (horarios, cantidad de horas dictadas tanto en clases virtuales como en presenciales, materias y aulas), buscando la eficiencia con resultados favorables tanto para docentes y personal universitario.</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s-EC" sz="1800" dirty="0">
                <a:effectLst/>
                <a:latin typeface="Arial" panose="020B0604020202020204" pitchFamily="34" charset="0"/>
                <a:ea typeface="Calibri" panose="020F0502020204030204" pitchFamily="34" charset="0"/>
                <a:cs typeface="Times New Roman" panose="02020603050405020304" pitchFamily="18" charset="0"/>
              </a:rPr>
              <a:t>La relevancia social de la investigación es incentivar a la innovación, a los beneficiarios directos de la Universidad Iberoamericana del Ecuador, además fomentar el uso y el desarrollo de herramientas tecnológicas que automaticen procesos y así disminuir el tiempo de ejecución de requerimientos.</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07011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41907" y="292773"/>
            <a:ext cx="9000000" cy="1260000"/>
          </a:xfrm>
          <a:prstGeom prst="rect">
            <a:avLst/>
          </a:prstGeom>
          <a:extLst>
            <a:ext uri="{FAA26D3D-D897-4be2-8F04-BA451C77F1D7}">
              <ma14:placeholderFlag xmlns:wpc="http://schemas.microsoft.com/office/word/2010/wordprocessingCanvas" xmlns:cx="http://schemas.microsoft.com/office/drawing/2014/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ex="http://schemas.microsoft.com/office/word/2018/wordml/cex" xmlns:w16cid="http://schemas.microsoft.com/office/word/2016/wordml/cid" xmlns:w16="http://schemas.microsoft.com/office/word/2018/wordml"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val="1"/>
            </a:ext>
          </a:extLst>
        </p:spPr>
      </p:pic>
      <p:sp>
        <p:nvSpPr>
          <p:cNvPr id="9" name="CuadroTexto 8"/>
          <p:cNvSpPr txBox="1"/>
          <p:nvPr/>
        </p:nvSpPr>
        <p:spPr>
          <a:xfrm>
            <a:off x="0" y="1611510"/>
            <a:ext cx="6978315"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1.3 Justificación de la Investigación </a:t>
            </a:r>
            <a:endParaRPr lang="en-US" sz="2000" b="1" dirty="0">
              <a:latin typeface="Arial" panose="020B0604020202020204" pitchFamily="34" charset="0"/>
              <a:cs typeface="Arial" panose="020B0604020202020204" pitchFamily="34" charset="0"/>
            </a:endParaRPr>
          </a:p>
        </p:txBody>
      </p:sp>
      <p:sp>
        <p:nvSpPr>
          <p:cNvPr id="2" name="Rectángulo 1"/>
          <p:cNvSpPr/>
          <p:nvPr/>
        </p:nvSpPr>
        <p:spPr>
          <a:xfrm>
            <a:off x="861582" y="2105134"/>
            <a:ext cx="10022774" cy="3163045"/>
          </a:xfrm>
          <a:prstGeom prst="rect">
            <a:avLst/>
          </a:prstGeom>
        </p:spPr>
        <p:txBody>
          <a:bodyPr wrap="square">
            <a:spAutoFit/>
          </a:bodyPr>
          <a:lstStyle/>
          <a:p>
            <a:pPr algn="just">
              <a:lnSpc>
                <a:spcPct val="150000"/>
              </a:lnSpc>
              <a:spcAft>
                <a:spcPts val="800"/>
              </a:spcAft>
            </a:pPr>
            <a:r>
              <a:rPr lang="es-EC" sz="1800" dirty="0">
                <a:effectLst/>
                <a:latin typeface="Arial" panose="020B0604020202020204" pitchFamily="34" charset="0"/>
                <a:ea typeface="Times New Roman" panose="02020603050405020304" pitchFamily="18" charset="0"/>
              </a:rPr>
              <a:t>Este proyecto de investigación se considera como un aporte académico porque contribuirá automatización de procesos internos aplicando los conocimientos impartidos en la Universidad Iberoamericana del Ecuador (UNIB.E).</a:t>
            </a:r>
            <a:endParaRPr lang="es-EC" sz="1800" dirty="0">
              <a:effectLst/>
              <a:latin typeface="Times New Roman" panose="02020603050405020304" pitchFamily="18" charset="0"/>
              <a:ea typeface="Times New Roman" panose="02020603050405020304" pitchFamily="18" charset="0"/>
            </a:endParaRPr>
          </a:p>
          <a:p>
            <a:pPr algn="just">
              <a:lnSpc>
                <a:spcPct val="150000"/>
              </a:lnSpc>
              <a:spcAft>
                <a:spcPts val="800"/>
              </a:spcAft>
            </a:pPr>
            <a:r>
              <a:rPr lang="es-EC" sz="1800" dirty="0">
                <a:effectLst/>
                <a:latin typeface="Arial" panose="020B0604020202020204" pitchFamily="34" charset="0"/>
                <a:ea typeface="Times New Roman" panose="02020603050405020304" pitchFamily="18" charset="0"/>
              </a:rPr>
              <a:t>Desde el punto de vista científico el proyecto contribuirá a la carrera de software en el uso de tecnologías actuales para el desarrollo de sistemas web, así como también la implementación de metodologías de diseño y desarrollo agiles que son las más eficientes.</a:t>
            </a:r>
            <a:endParaRPr lang="es-EC" sz="1800" dirty="0">
              <a:effectLst/>
              <a:latin typeface="Times New Roman" panose="02020603050405020304" pitchFamily="18" charset="0"/>
              <a:ea typeface="Times New Roman" panose="02020603050405020304" pitchFamily="18" charset="0"/>
            </a:endParaRPr>
          </a:p>
          <a:p>
            <a:pPr algn="just">
              <a:lnSpc>
                <a:spcPct val="150000"/>
              </a:lnSpc>
              <a:spcAft>
                <a:spcPts val="800"/>
              </a:spcAft>
            </a:pP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1602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41907" y="292773"/>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9" name="CuadroTexto 8"/>
          <p:cNvSpPr txBox="1"/>
          <p:nvPr/>
        </p:nvSpPr>
        <p:spPr>
          <a:xfrm>
            <a:off x="0" y="1611510"/>
            <a:ext cx="6978315"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1.3 Justificación de la Investigación </a:t>
            </a:r>
            <a:endParaRPr lang="en-US" sz="2000" b="1" dirty="0">
              <a:latin typeface="Arial" panose="020B0604020202020204" pitchFamily="34" charset="0"/>
              <a:cs typeface="Arial" panose="020B0604020202020204" pitchFamily="34" charset="0"/>
            </a:endParaRPr>
          </a:p>
        </p:txBody>
      </p:sp>
      <p:sp>
        <p:nvSpPr>
          <p:cNvPr id="2" name="Rectángulo 1"/>
          <p:cNvSpPr/>
          <p:nvPr/>
        </p:nvSpPr>
        <p:spPr>
          <a:xfrm>
            <a:off x="861582" y="2105134"/>
            <a:ext cx="10022774" cy="3058658"/>
          </a:xfrm>
          <a:prstGeom prst="rect">
            <a:avLst/>
          </a:prstGeom>
        </p:spPr>
        <p:txBody>
          <a:bodyPr wrap="square">
            <a:spAutoFit/>
          </a:bodyPr>
          <a:lstStyle/>
          <a:p>
            <a:pPr algn="just">
              <a:lnSpc>
                <a:spcPct val="150000"/>
              </a:lnSpc>
              <a:spcAft>
                <a:spcPts val="800"/>
              </a:spcAft>
            </a:pPr>
            <a:r>
              <a:rPr lang="es-EC" dirty="0">
                <a:effectLst/>
                <a:latin typeface="Arial" panose="020B0604020202020204" pitchFamily="34" charset="0"/>
                <a:ea typeface="Calibri" panose="020F0502020204030204" pitchFamily="34" charset="0"/>
              </a:rPr>
              <a:t>Desde el punto de vista metodológico como la aplicación de las metodologías ágiles en el desarrollo de proyectos de software podrá ser usado por otros investigadores como base teórica para proyectos similares a la implementación de aplicaciones web para el control de docentes invitados en clases virtuales y presenciales en instituciones educativas. </a:t>
            </a:r>
          </a:p>
          <a:p>
            <a:pPr algn="just">
              <a:lnSpc>
                <a:spcPct val="150000"/>
              </a:lnSpc>
              <a:spcAft>
                <a:spcPts val="800"/>
              </a:spcAft>
            </a:pPr>
            <a:r>
              <a:rPr lang="es-EC" dirty="0">
                <a:effectLst/>
                <a:latin typeface="Arial" panose="020B0604020202020204" pitchFamily="34" charset="0"/>
                <a:ea typeface="Calibri" panose="020F0502020204030204" pitchFamily="34" charset="0"/>
                <a:cs typeface="Times New Roman" panose="02020603050405020304" pitchFamily="18" charset="0"/>
              </a:rPr>
              <a:t>Este sistema web tiene como principales beneficiarios al personal administrativo y docentes, ademas la Universidad Iberoamericana del Ecuador quiere mejorar el control con la automatización y la gestión de los docentes invitados en clases virtuales y presenciales.</a:t>
            </a:r>
            <a:endParaRPr lang="es-EC"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49482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73158" y="267923"/>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1235242" y="2000174"/>
            <a:ext cx="9721516" cy="1754326"/>
          </a:xfrm>
          <a:prstGeom prst="rect">
            <a:avLst/>
          </a:prstGeom>
          <a:noFill/>
        </p:spPr>
        <p:txBody>
          <a:bodyPr wrap="square" rtlCol="0">
            <a:spAutoFit/>
          </a:bodyPr>
          <a:lstStyle/>
          <a:p>
            <a:pPr algn="ctr"/>
            <a:r>
              <a:rPr lang="es-ES" sz="5400" b="1" dirty="0">
                <a:latin typeface="Arial" panose="020B0604020202020204" pitchFamily="34" charset="0"/>
                <a:cs typeface="Arial" panose="020B0604020202020204" pitchFamily="34" charset="0"/>
              </a:rPr>
              <a:t>CAPÍTULO #2</a:t>
            </a:r>
          </a:p>
          <a:p>
            <a:pPr algn="ctr"/>
            <a:r>
              <a:rPr lang="es-ES" sz="5400" b="1" dirty="0">
                <a:latin typeface="Arial" panose="020B0604020202020204" pitchFamily="34" charset="0"/>
                <a:cs typeface="Arial" panose="020B0604020202020204" pitchFamily="34" charset="0"/>
              </a:rPr>
              <a:t>MARCO TEÓRICO  </a:t>
            </a:r>
            <a:endParaRPr lang="en-US" sz="4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5671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25657" y="248487"/>
            <a:ext cx="9000000" cy="1260000"/>
          </a:xfrm>
          <a:prstGeom prst="rect">
            <a:avLst/>
          </a:prstGeom>
          <a:extLst>
            <a:ext uri="{FAA26D3D-D897-4be2-8F04-BA451C77F1D7}">
              <ma14:placeholderFlag xmlns:wpc="http://schemas.microsoft.com/office/word/2010/wordprocessingCanvas" xmlns:cx="http://schemas.microsoft.com/office/drawing/2014/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ex="http://schemas.microsoft.com/office/word/2018/wordml/cex" xmlns:w16cid="http://schemas.microsoft.com/office/word/2016/wordml/cid" xmlns:w16="http://schemas.microsoft.com/office/word/2018/wordml"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val="1"/>
            </a:ext>
          </a:extLst>
        </p:spPr>
      </p:pic>
      <p:sp>
        <p:nvSpPr>
          <p:cNvPr id="8" name="CuadroTexto 7"/>
          <p:cNvSpPr txBox="1"/>
          <p:nvPr/>
        </p:nvSpPr>
        <p:spPr>
          <a:xfrm>
            <a:off x="526219" y="1618085"/>
            <a:ext cx="7555830"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2.1 Fundamentación teórica y/o conceptual</a:t>
            </a:r>
            <a:endParaRPr lang="en-US" sz="2400" b="1" dirty="0">
              <a:latin typeface="Arial" panose="020B0604020202020204" pitchFamily="34" charset="0"/>
              <a:cs typeface="Arial" panose="020B0604020202020204" pitchFamily="34" charset="0"/>
            </a:endParaRPr>
          </a:p>
        </p:txBody>
      </p:sp>
      <p:sp>
        <p:nvSpPr>
          <p:cNvPr id="9" name="Rectángulo 8"/>
          <p:cNvSpPr/>
          <p:nvPr/>
        </p:nvSpPr>
        <p:spPr>
          <a:xfrm>
            <a:off x="1125657" y="2189348"/>
            <a:ext cx="9737558" cy="4693593"/>
          </a:xfrm>
          <a:prstGeom prst="rect">
            <a:avLst/>
          </a:prstGeom>
        </p:spPr>
        <p:txBody>
          <a:bodyPr wrap="square">
            <a:spAutoFit/>
          </a:bodyPr>
          <a:lstStyle/>
          <a:p>
            <a:pPr algn="just">
              <a:lnSpc>
                <a:spcPct val="150000"/>
              </a:lnSpc>
            </a:pPr>
            <a:r>
              <a:rPr lang="es-ES" b="1" dirty="0">
                <a:latin typeface="Arial" panose="020B0604020202020204" pitchFamily="34" charset="0"/>
                <a:cs typeface="Arial" panose="020B0604020202020204" pitchFamily="34" charset="0"/>
              </a:rPr>
              <a:t>Aplicación Web: </a:t>
            </a:r>
            <a:r>
              <a:rPr lang="es-ES" dirty="0">
                <a:latin typeface="Arial" panose="020B0604020202020204" pitchFamily="34" charset="0"/>
                <a:cs typeface="Arial" panose="020B0604020202020204" pitchFamily="34" charset="0"/>
              </a:rPr>
              <a:t>Son un tipo de software que residen en el ordenador, esto quiere decir que los usuarios no tienen que descargarlas debido a que se alojan en un servidor web y se puede acceder a ellas a través de un navegador web</a:t>
            </a:r>
            <a:r>
              <a:rPr lang="es-ES" sz="2000" dirty="0">
                <a:latin typeface="Arial" panose="020B0604020202020204" pitchFamily="34" charset="0"/>
                <a:cs typeface="Arial" panose="020B0604020202020204" pitchFamily="34" charset="0"/>
              </a:rPr>
              <a:t>.</a:t>
            </a:r>
          </a:p>
          <a:p>
            <a:pPr algn="just">
              <a:lnSpc>
                <a:spcPct val="150000"/>
              </a:lnSpc>
            </a:pPr>
            <a:r>
              <a:rPr lang="es-ES" b="1" dirty="0">
                <a:latin typeface="Arial" panose="020B0604020202020204" pitchFamily="34" charset="0"/>
                <a:cs typeface="Arial" panose="020B0604020202020204" pitchFamily="34" charset="0"/>
              </a:rPr>
              <a:t>PHP: </a:t>
            </a:r>
            <a:r>
              <a:rPr lang="es-EC" dirty="0">
                <a:latin typeface="Arial" panose="020B0604020202020204" pitchFamily="34" charset="0"/>
                <a:cs typeface="Arial" panose="020B0604020202020204" pitchFamily="34" charset="0"/>
              </a:rPr>
              <a:t>E</a:t>
            </a:r>
            <a:r>
              <a:rPr lang="es-EC" dirty="0">
                <a:effectLst/>
                <a:latin typeface="Arial" panose="020B0604020202020204" pitchFamily="34" charset="0"/>
                <a:ea typeface="Calibri" panose="020F0502020204030204" pitchFamily="34" charset="0"/>
              </a:rPr>
              <a:t>s un lenguaje de programación que se utiliza principalmente para el desarrollo de sitios web, pero para muchos es un lenguaje de propósito general</a:t>
            </a:r>
            <a:r>
              <a:rPr lang="es-EC" sz="1800" dirty="0">
                <a:effectLst/>
                <a:latin typeface="Arial" panose="020B0604020202020204" pitchFamily="34" charset="0"/>
                <a:ea typeface="Calibri" panose="020F0502020204030204" pitchFamily="34" charset="0"/>
              </a:rPr>
              <a:t>.</a:t>
            </a:r>
            <a:r>
              <a:rPr lang="es-EC" sz="1800" dirty="0">
                <a:effectLst/>
                <a:latin typeface="Arial" panose="020B0604020202020204" pitchFamily="34" charset="0"/>
                <a:ea typeface="Calibri" panose="020F0502020204030204" pitchFamily="34" charset="0"/>
                <a:cs typeface="Times New Roman" panose="02020603050405020304" pitchFamily="18" charset="0"/>
              </a:rPr>
              <a:t> Una de las razones por las que PHP se ha vuelto tan popular entre los programadores y desarrolladores web es debido a que es de código abierto y esto trae como ventaja que cualquiera puede hacer cambios en su estructura base.</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2520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25657" y="248487"/>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526219" y="1618085"/>
            <a:ext cx="7555830"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2.1 Fundamentación teórica y/o conceptual</a:t>
            </a:r>
            <a:endParaRPr lang="en-US" sz="2400" b="1" dirty="0">
              <a:latin typeface="Arial" panose="020B0604020202020204" pitchFamily="34" charset="0"/>
              <a:cs typeface="Arial" panose="020B0604020202020204" pitchFamily="34" charset="0"/>
            </a:endParaRPr>
          </a:p>
        </p:txBody>
      </p:sp>
      <p:sp>
        <p:nvSpPr>
          <p:cNvPr id="9" name="Rectángulo 8"/>
          <p:cNvSpPr/>
          <p:nvPr/>
        </p:nvSpPr>
        <p:spPr>
          <a:xfrm>
            <a:off x="1125657" y="2043619"/>
            <a:ext cx="9737558" cy="4493538"/>
          </a:xfrm>
          <a:prstGeom prst="rect">
            <a:avLst/>
          </a:prstGeom>
        </p:spPr>
        <p:txBody>
          <a:bodyPr wrap="square">
            <a:spAutoFit/>
          </a:bodyPr>
          <a:lstStyle/>
          <a:p>
            <a:pPr algn="just">
              <a:lnSpc>
                <a:spcPct val="150000"/>
              </a:lnSpc>
            </a:pPr>
            <a:r>
              <a:rPr lang="es-ES" b="1" dirty="0">
                <a:latin typeface="Arial" panose="020B0604020202020204" pitchFamily="34" charset="0"/>
                <a:cs typeface="Arial" panose="020B0604020202020204" pitchFamily="34" charset="0"/>
              </a:rPr>
              <a:t>Laravel</a:t>
            </a:r>
            <a:r>
              <a:rPr lang="es-ES" sz="2000" b="1" dirty="0">
                <a:latin typeface="Arial" panose="020B0604020202020204" pitchFamily="34" charset="0"/>
                <a:cs typeface="Arial" panose="020B0604020202020204" pitchFamily="34" charset="0"/>
              </a:rPr>
              <a:t>: </a:t>
            </a:r>
            <a:r>
              <a:rPr lang="es-EC" sz="1800" dirty="0">
                <a:effectLst/>
                <a:latin typeface="Arial" panose="020B0604020202020204" pitchFamily="34" charset="0"/>
                <a:ea typeface="Calibri" panose="020F0502020204030204" pitchFamily="34" charset="0"/>
              </a:rPr>
              <a:t>Es un framework de PHP que maneja la arquitectura MVC. Se enfoca en reducir costos en el desarrollo inicial de software y a su vez reducir costos en el mantenimiento continuo. </a:t>
            </a:r>
            <a:r>
              <a:rPr lang="es-EC" sz="1800" dirty="0">
                <a:effectLst/>
                <a:latin typeface="Arial" panose="020B0604020202020204" pitchFamily="34" charset="0"/>
                <a:ea typeface="Calibri" panose="020F0502020204030204" pitchFamily="34" charset="0"/>
                <a:cs typeface="Times New Roman" panose="02020603050405020304" pitchFamily="18" charset="0"/>
              </a:rPr>
              <a:t>El objetivo para el que fue creado este framework es que permita el uso de una sintaxis refinada y expresiva para crear código de forma sencilla.</a:t>
            </a:r>
            <a:endParaRPr lang="es-ES" b="1" dirty="0">
              <a:latin typeface="Arial" panose="020B0604020202020204" pitchFamily="34" charset="0"/>
              <a:cs typeface="Arial" panose="020B0604020202020204" pitchFamily="34" charset="0"/>
            </a:endParaRPr>
          </a:p>
          <a:p>
            <a:pPr algn="just">
              <a:lnSpc>
                <a:spcPct val="150000"/>
              </a:lnSpc>
            </a:pPr>
            <a:r>
              <a:rPr lang="es-ES" b="1" dirty="0">
                <a:latin typeface="Arial" panose="020B0604020202020204" pitchFamily="34" charset="0"/>
                <a:cs typeface="Arial" panose="020B0604020202020204" pitchFamily="34" charset="0"/>
              </a:rPr>
              <a:t>Modelo Vista-Controlador: </a:t>
            </a:r>
            <a:r>
              <a:rPr lang="es-EC" sz="1800" dirty="0">
                <a:effectLst/>
                <a:latin typeface="Arial" panose="020B0604020202020204" pitchFamily="34" charset="0"/>
                <a:ea typeface="Calibri" panose="020F0502020204030204" pitchFamily="34" charset="0"/>
              </a:rPr>
              <a:t>Es un patrón de diseño de software que separa los datos de una aplicación, la interfaz de usuario, y la lógica de control en tres componentes distintos de forma que las modificaciones al componente de la vista, o a cualquier parte del sistema puedan ser hechas con un mínimo impacto en el componente del modelo de datos o en los otros componentes del sistema.</a:t>
            </a: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4762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25657" y="248487"/>
            <a:ext cx="9000000" cy="1260000"/>
          </a:xfrm>
          <a:prstGeom prst="rect">
            <a:avLst/>
          </a:prstGeom>
          <a:extLst>
            <a:ext uri="{FAA26D3D-D897-4be2-8F04-BA451C77F1D7}">
              <ma14:placeholderFlag xmlns:wpc="http://schemas.microsoft.com/office/word/2010/wordprocessingCanvas" xmlns:cx="http://schemas.microsoft.com/office/drawing/2014/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ex="http://schemas.microsoft.com/office/word/2018/wordml/cex" xmlns:w16cid="http://schemas.microsoft.com/office/word/2016/wordml/cid" xmlns:w16="http://schemas.microsoft.com/office/word/2018/wordml"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val="1"/>
            </a:ext>
          </a:extLst>
        </p:spPr>
      </p:pic>
      <p:sp>
        <p:nvSpPr>
          <p:cNvPr id="8" name="CuadroTexto 7"/>
          <p:cNvSpPr txBox="1"/>
          <p:nvPr/>
        </p:nvSpPr>
        <p:spPr>
          <a:xfrm>
            <a:off x="526219" y="1618085"/>
            <a:ext cx="7555830" cy="461665"/>
          </a:xfrm>
          <a:prstGeom prst="rect">
            <a:avLst/>
          </a:prstGeom>
          <a:noFill/>
        </p:spPr>
        <p:txBody>
          <a:bodyPr wrap="square" rtlCol="0">
            <a:spAutoFit/>
          </a:bodyPr>
          <a:lstStyle/>
          <a:p>
            <a:pPr algn="ctr"/>
            <a:r>
              <a:rPr lang="es-ES" sz="2400" b="1" dirty="0">
                <a:latin typeface="Arial" panose="020B0604020202020204" pitchFamily="34" charset="0"/>
                <a:cs typeface="Arial" panose="020B0604020202020204" pitchFamily="34" charset="0"/>
              </a:rPr>
              <a:t>2.1 Fundamentación teórica y/o conceptual</a:t>
            </a:r>
            <a:endParaRPr lang="en-US" sz="2400" b="1" dirty="0">
              <a:latin typeface="Arial" panose="020B0604020202020204" pitchFamily="34" charset="0"/>
              <a:cs typeface="Arial" panose="020B0604020202020204" pitchFamily="34" charset="0"/>
            </a:endParaRPr>
          </a:p>
        </p:txBody>
      </p:sp>
      <p:sp>
        <p:nvSpPr>
          <p:cNvPr id="9" name="Rectángulo 8"/>
          <p:cNvSpPr/>
          <p:nvPr/>
        </p:nvSpPr>
        <p:spPr>
          <a:xfrm>
            <a:off x="1125657" y="2189348"/>
            <a:ext cx="9737558" cy="1954381"/>
          </a:xfrm>
          <a:prstGeom prst="rect">
            <a:avLst/>
          </a:prstGeom>
        </p:spPr>
        <p:txBody>
          <a:bodyPr wrap="square">
            <a:spAutoFit/>
          </a:bodyPr>
          <a:lstStyle/>
          <a:p>
            <a:pPr algn="just">
              <a:lnSpc>
                <a:spcPct val="150000"/>
              </a:lnSpc>
            </a:pPr>
            <a:r>
              <a:rPr lang="es-EC" b="1" dirty="0">
                <a:latin typeface="Arial" panose="020B0604020202020204" pitchFamily="34" charset="0"/>
                <a:cs typeface="Arial" panose="020B0604020202020204" pitchFamily="34" charset="0"/>
              </a:rPr>
              <a:t>MYSQL</a:t>
            </a:r>
            <a:r>
              <a:rPr lang="es-EC" dirty="0">
                <a:latin typeface="Arial" panose="020B0604020202020204" pitchFamily="34" charset="0"/>
                <a:cs typeface="Arial" panose="020B0604020202020204" pitchFamily="34" charset="0"/>
              </a:rPr>
              <a:t>: Es un sistema de administración de bases de datos relacionales </a:t>
            </a:r>
            <a:r>
              <a:rPr lang="es-EC" b="0" i="0" dirty="0">
                <a:effectLst/>
                <a:latin typeface="Arial" panose="020B0604020202020204" pitchFamily="34" charset="0"/>
                <a:cs typeface="Arial" panose="020B0604020202020204" pitchFamily="34" charset="0"/>
              </a:rPr>
              <a:t>para almacenar y administrar datos</a:t>
            </a:r>
            <a:r>
              <a:rPr lang="es-EC" dirty="0">
                <a:latin typeface="Arial" panose="020B0604020202020204" pitchFamily="34" charset="0"/>
                <a:cs typeface="Arial" panose="020B0604020202020204" pitchFamily="34" charset="0"/>
              </a:rPr>
              <a:t>. Es un software de código abierto desarrollado por Oracle. Se considera como la base de datos de código abierto más utilizada en el mundo.</a:t>
            </a:r>
            <a:r>
              <a:rPr lang="es-EC" b="0" i="0" dirty="0">
                <a:effectLst/>
                <a:latin typeface="Arial" panose="020B0604020202020204" pitchFamily="34" charset="0"/>
                <a:cs typeface="Arial" panose="020B0604020202020204" pitchFamily="34" charset="0"/>
              </a:rPr>
              <a:t> </a:t>
            </a:r>
            <a:endParaRPr lang="es-ES"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32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208785" y="208547"/>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1026696" y="2064037"/>
            <a:ext cx="9721516" cy="1754326"/>
          </a:xfrm>
          <a:prstGeom prst="rect">
            <a:avLst/>
          </a:prstGeom>
          <a:noFill/>
        </p:spPr>
        <p:txBody>
          <a:bodyPr wrap="square" rtlCol="0">
            <a:spAutoFit/>
          </a:bodyPr>
          <a:lstStyle/>
          <a:p>
            <a:pPr algn="ctr"/>
            <a:r>
              <a:rPr lang="es-ES" sz="5400" b="1" dirty="0">
                <a:latin typeface="Arial" panose="020B0604020202020204" pitchFamily="34" charset="0"/>
                <a:cs typeface="Arial" panose="020B0604020202020204" pitchFamily="34" charset="0"/>
              </a:rPr>
              <a:t>CAPÍTULO #3</a:t>
            </a:r>
          </a:p>
          <a:p>
            <a:pPr algn="ctr"/>
            <a:r>
              <a:rPr lang="es-ES" sz="5400" b="1" dirty="0">
                <a:latin typeface="Arial" panose="020B0604020202020204" pitchFamily="34" charset="0"/>
                <a:cs typeface="Arial" panose="020B0604020202020204" pitchFamily="34" charset="0"/>
              </a:rPr>
              <a:t>METODOLOGÍA</a:t>
            </a:r>
            <a:endParaRPr lang="en-US" sz="4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9717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37533" y="187565"/>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2" name="CuadroTexto 1"/>
          <p:cNvSpPr txBox="1"/>
          <p:nvPr/>
        </p:nvSpPr>
        <p:spPr>
          <a:xfrm>
            <a:off x="989762" y="1592573"/>
            <a:ext cx="4764505" cy="461665"/>
          </a:xfrm>
          <a:prstGeom prst="rect">
            <a:avLst/>
          </a:prstGeom>
          <a:noFill/>
        </p:spPr>
        <p:txBody>
          <a:bodyPr wrap="square" rtlCol="0">
            <a:spAutoFit/>
          </a:bodyPr>
          <a:lstStyle/>
          <a:p>
            <a:r>
              <a:rPr lang="es-ES" sz="2400" b="1" dirty="0">
                <a:latin typeface="Arial" panose="020B0604020202020204" pitchFamily="34" charset="0"/>
                <a:cs typeface="Arial" panose="020B0604020202020204" pitchFamily="34" charset="0"/>
              </a:rPr>
              <a:t>3.1 Ruta metodológica </a:t>
            </a:r>
            <a:endParaRPr lang="en-US" sz="2400" b="1" dirty="0">
              <a:latin typeface="Arial" panose="020B0604020202020204" pitchFamily="34" charset="0"/>
              <a:cs typeface="Arial" panose="020B0604020202020204" pitchFamily="34" charset="0"/>
            </a:endParaRPr>
          </a:p>
        </p:txBody>
      </p:sp>
      <p:sp>
        <p:nvSpPr>
          <p:cNvPr id="8" name="Rectángulo 7"/>
          <p:cNvSpPr/>
          <p:nvPr/>
        </p:nvSpPr>
        <p:spPr>
          <a:xfrm>
            <a:off x="989762" y="2447307"/>
            <a:ext cx="9737558" cy="2534027"/>
          </a:xfrm>
          <a:prstGeom prst="rect">
            <a:avLst/>
          </a:prstGeom>
        </p:spPr>
        <p:txBody>
          <a:bodyPr wrap="square">
            <a:spAutoFit/>
          </a:bodyPr>
          <a:lstStyle/>
          <a:p>
            <a:pPr algn="just">
              <a:lnSpc>
                <a:spcPct val="150000"/>
              </a:lnSpc>
            </a:pPr>
            <a:r>
              <a:rPr lang="es-EC" sz="1800" dirty="0">
                <a:effectLst/>
                <a:latin typeface="Arial" panose="020B0604020202020204" pitchFamily="34" charset="0"/>
                <a:ea typeface="Calibri" panose="020F0502020204030204" pitchFamily="34" charset="0"/>
              </a:rPr>
              <a:t>El presente trabajo cimienta sus bases en el paradigma positivista ya que se fundamenta en la experimentación mediante el desarrollo de una aplicación web para el control de docentes invitados en clases virtuales y presenciales en la Universidad Iberoamericana del Ecuador.</a:t>
            </a:r>
          </a:p>
          <a:p>
            <a:pPr algn="just">
              <a:lnSpc>
                <a:spcPct val="150000"/>
              </a:lnSpc>
            </a:pPr>
            <a:r>
              <a:rPr lang="es-EC" sz="1800" dirty="0">
                <a:effectLst/>
                <a:latin typeface="Arial" panose="020B0604020202020204" pitchFamily="34" charset="0"/>
                <a:ea typeface="Calibri" panose="020F0502020204030204" pitchFamily="34" charset="0"/>
              </a:rPr>
              <a:t>Por otro lado, el enfoque presente en este proyecto es el cuantitativo debido a que se espera obtener respuestas mediante un análisis numérico y estadístico para identificar las características necesarias para el desarrollo de la aplicación web.</a:t>
            </a:r>
            <a:endParaRPr lang="es-E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0482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37533" y="187565"/>
            <a:ext cx="9000000" cy="1260000"/>
          </a:xfrm>
          <a:prstGeom prst="rect">
            <a:avLst/>
          </a:prstGeom>
          <a:extLst>
            <a:ext uri="{FAA26D3D-D897-4be2-8F04-BA451C77F1D7}">
              <ma14:placeholderFlag xmlns:wpc="http://schemas.microsoft.com/office/word/2010/wordprocessingCanvas" xmlns:cx="http://schemas.microsoft.com/office/drawing/2014/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ex="http://schemas.microsoft.com/office/word/2018/wordml/cex" xmlns:w16cid="http://schemas.microsoft.com/office/word/2016/wordml/cid" xmlns:w16="http://schemas.microsoft.com/office/word/2018/wordml"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val="1"/>
            </a:ext>
          </a:extLst>
        </p:spPr>
      </p:pic>
      <p:sp>
        <p:nvSpPr>
          <p:cNvPr id="2" name="CuadroTexto 1"/>
          <p:cNvSpPr txBox="1"/>
          <p:nvPr/>
        </p:nvSpPr>
        <p:spPr>
          <a:xfrm>
            <a:off x="989762" y="1592573"/>
            <a:ext cx="4764505" cy="461665"/>
          </a:xfrm>
          <a:prstGeom prst="rect">
            <a:avLst/>
          </a:prstGeom>
          <a:noFill/>
        </p:spPr>
        <p:txBody>
          <a:bodyPr wrap="square" rtlCol="0">
            <a:spAutoFit/>
          </a:bodyPr>
          <a:lstStyle/>
          <a:p>
            <a:r>
              <a:rPr lang="es-ES" sz="2400" b="1" dirty="0">
                <a:latin typeface="Arial" panose="020B0604020202020204" pitchFamily="34" charset="0"/>
                <a:cs typeface="Arial" panose="020B0604020202020204" pitchFamily="34" charset="0"/>
              </a:rPr>
              <a:t>3.1 Ruta metodológica </a:t>
            </a:r>
            <a:endParaRPr lang="en-US" sz="2400" b="1" dirty="0">
              <a:latin typeface="Arial" panose="020B0604020202020204" pitchFamily="34" charset="0"/>
              <a:cs typeface="Arial" panose="020B0604020202020204" pitchFamily="34" charset="0"/>
            </a:endParaRPr>
          </a:p>
        </p:txBody>
      </p:sp>
      <p:sp>
        <p:nvSpPr>
          <p:cNvPr id="8" name="Rectángulo 7"/>
          <p:cNvSpPr/>
          <p:nvPr/>
        </p:nvSpPr>
        <p:spPr>
          <a:xfrm>
            <a:off x="989762" y="2340157"/>
            <a:ext cx="9737558" cy="2949525"/>
          </a:xfrm>
          <a:prstGeom prst="rect">
            <a:avLst/>
          </a:prstGeom>
        </p:spPr>
        <p:txBody>
          <a:bodyPr wrap="square">
            <a:spAutoFit/>
          </a:bodyPr>
          <a:lstStyle/>
          <a:p>
            <a:pPr algn="just">
              <a:lnSpc>
                <a:spcPct val="150000"/>
              </a:lnSpc>
            </a:pPr>
            <a:r>
              <a:rPr lang="es-EC" sz="1800" dirty="0">
                <a:effectLst/>
                <a:latin typeface="Arial" panose="020B0604020202020204" pitchFamily="34" charset="0"/>
                <a:ea typeface="Calibri" panose="020F0502020204030204" pitchFamily="34" charset="0"/>
              </a:rPr>
              <a:t>El nivel usado en la investigación fue el descriptivo, debido a que permite verificar y especificar los requerimientos funcionales y no funcionales que se van a implementar para el desarrollo de la aplicación web.</a:t>
            </a:r>
          </a:p>
          <a:p>
            <a:pPr algn="just">
              <a:lnSpc>
                <a:spcPct val="150000"/>
              </a:lnSpc>
            </a:pPr>
            <a:r>
              <a:rPr lang="es-EC" sz="1800" dirty="0">
                <a:effectLst/>
                <a:latin typeface="Arial" panose="020B0604020202020204" pitchFamily="34" charset="0"/>
                <a:ea typeface="Calibri" panose="020F0502020204030204" pitchFamily="34" charset="0"/>
              </a:rPr>
              <a:t>Con base a lo anterior mencionado el presente trabajo asume un diseño no experimental</a:t>
            </a:r>
            <a:r>
              <a:rPr lang="es-EC" dirty="0">
                <a:latin typeface="Arial" panose="020B0604020202020204" pitchFamily="34" charset="0"/>
                <a:ea typeface="Calibri" panose="020F0502020204030204" pitchFamily="34" charset="0"/>
              </a:rPr>
              <a:t> y </a:t>
            </a:r>
            <a:r>
              <a:rPr lang="es-EC" sz="1800" dirty="0">
                <a:effectLst/>
                <a:latin typeface="Arial" panose="020B0604020202020204" pitchFamily="34" charset="0"/>
                <a:ea typeface="Calibri" panose="020F0502020204030204" pitchFamily="34" charset="0"/>
              </a:rPr>
              <a:t>es de corte transversal. Esto implica que, el investigador no hizo manipulación de las variables (requerimientos funcionales y no funcionales), ademas los datos fueron recolectados en un solo instante de tiempo, precisamente en el segundo semestre del 2022.</a:t>
            </a:r>
            <a:endParaRPr lang="es-E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7748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201384" y="234612"/>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950962" y="1604210"/>
            <a:ext cx="4764505" cy="461665"/>
          </a:xfrm>
          <a:prstGeom prst="rect">
            <a:avLst/>
          </a:prstGeom>
          <a:noFill/>
        </p:spPr>
        <p:txBody>
          <a:bodyPr wrap="square" rtlCol="0">
            <a:spAutoFit/>
          </a:bodyPr>
          <a:lstStyle/>
          <a:p>
            <a:pPr>
              <a:tabLst>
                <a:tab pos="4219575" algn="l"/>
              </a:tabLst>
            </a:pPr>
            <a:r>
              <a:rPr lang="es-ES" sz="2400" b="1" dirty="0">
                <a:latin typeface="Arial" panose="020B0604020202020204" pitchFamily="34" charset="0"/>
                <a:cs typeface="Arial" panose="020B0604020202020204" pitchFamily="34" charset="0"/>
              </a:rPr>
              <a:t>3.2 Población y muestra</a:t>
            </a:r>
            <a:endParaRPr lang="en-US" sz="2400" b="1" dirty="0">
              <a:latin typeface="Arial" panose="020B0604020202020204" pitchFamily="34" charset="0"/>
              <a:cs typeface="Arial" panose="020B0604020202020204" pitchFamily="34" charset="0"/>
            </a:endParaRPr>
          </a:p>
        </p:txBody>
      </p:sp>
      <p:sp>
        <p:nvSpPr>
          <p:cNvPr id="2" name="Rectángulo 1"/>
          <p:cNvSpPr/>
          <p:nvPr/>
        </p:nvSpPr>
        <p:spPr>
          <a:xfrm>
            <a:off x="996944" y="2285882"/>
            <a:ext cx="9437046" cy="3585597"/>
          </a:xfrm>
          <a:prstGeom prst="rect">
            <a:avLst/>
          </a:prstGeom>
        </p:spPr>
        <p:txBody>
          <a:bodyPr wrap="square">
            <a:spAutoFit/>
          </a:bodyPr>
          <a:lstStyle/>
          <a:p>
            <a:pPr algn="just">
              <a:lnSpc>
                <a:spcPct val="150000"/>
              </a:lnSpc>
            </a:pPr>
            <a:r>
              <a:rPr lang="es-EC"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Específicamente la población la constituyen los 50 docentes invitados y 1 sola persona del área administrativa.</a:t>
            </a:r>
            <a:r>
              <a:rPr lang="es-EC" sz="1800" dirty="0">
                <a:effectLst/>
                <a:latin typeface="Arial" panose="020B0604020202020204" pitchFamily="34" charset="0"/>
                <a:ea typeface="Calibri" panose="020F0502020204030204" pitchFamily="34" charset="0"/>
                <a:cs typeface="Arial" panose="020B0604020202020204" pitchFamily="34" charset="0"/>
              </a:rPr>
              <a:t> Para estimar la muestra primeramente es necesario definir la unidad de análisis en la cual se obtiene la información para el desarrollo del proyecto, para el presente trabajo de titulación será la población que se comprende de docentes invitados y personal administrativo.</a:t>
            </a:r>
          </a:p>
          <a:p>
            <a:pPr algn="just">
              <a:lnSpc>
                <a:spcPct val="150000"/>
              </a:lnSpc>
            </a:pPr>
            <a:endParaRPr lang="es-EC" dirty="0">
              <a:latin typeface="Arial" panose="020B0604020202020204" pitchFamily="34" charset="0"/>
              <a:ea typeface="Calibri" panose="020F0502020204030204" pitchFamily="34" charset="0"/>
              <a:cs typeface="Arial" panose="020B0604020202020204" pitchFamily="34" charset="0"/>
            </a:endParaRPr>
          </a:p>
          <a:p>
            <a:pPr algn="just">
              <a:lnSpc>
                <a:spcPct val="150000"/>
              </a:lnSpc>
            </a:pPr>
            <a:r>
              <a:rPr lang="es-EC" sz="1800" dirty="0">
                <a:effectLst/>
                <a:latin typeface="Arial" panose="020B0604020202020204" pitchFamily="34" charset="0"/>
                <a:ea typeface="Calibri" panose="020F0502020204030204" pitchFamily="34" charset="0"/>
                <a:cs typeface="Arial" panose="020B0604020202020204" pitchFamily="34" charset="0"/>
              </a:rPr>
              <a:t>Para la muestra se realiza el uso de la siguiente fórmula:</a:t>
            </a:r>
          </a:p>
          <a:p>
            <a:pPr algn="just"/>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2000" dirty="0"/>
          </a:p>
        </p:txBody>
      </p:sp>
      <p:pic>
        <p:nvPicPr>
          <p:cNvPr id="4" name="Imagen 3">
            <a:extLst>
              <a:ext uri="{FF2B5EF4-FFF2-40B4-BE49-F238E27FC236}">
                <a16:creationId xmlns:a16="http://schemas.microsoft.com/office/drawing/2014/main" id="{27FB6A4D-1D5B-F606-9B9F-86EBD33E3573}"/>
              </a:ext>
            </a:extLst>
          </p:cNvPr>
          <p:cNvPicPr>
            <a:picLocks noChangeAspect="1"/>
          </p:cNvPicPr>
          <p:nvPr/>
        </p:nvPicPr>
        <p:blipFill>
          <a:blip r:embed="rId3"/>
          <a:stretch>
            <a:fillRect/>
          </a:stretch>
        </p:blipFill>
        <p:spPr>
          <a:xfrm>
            <a:off x="3974917" y="4626183"/>
            <a:ext cx="3481100" cy="823486"/>
          </a:xfrm>
          <a:prstGeom prst="rect">
            <a:avLst/>
          </a:prstGeom>
        </p:spPr>
      </p:pic>
    </p:spTree>
    <p:extLst>
      <p:ext uri="{BB962C8B-B14F-4D97-AF65-F5344CB8AC3E}">
        <p14:creationId xmlns:p14="http://schemas.microsoft.com/office/powerpoint/2010/main" val="1061654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201384" y="234612"/>
            <a:ext cx="9000000" cy="1260000"/>
          </a:xfrm>
          <a:prstGeom prst="rect">
            <a:avLst/>
          </a:prstGeom>
          <a:extLst>
            <a:ext uri="{FAA26D3D-D897-4be2-8F04-BA451C77F1D7}">
              <ma14:placeholderFlag xmlns:wpc="http://schemas.microsoft.com/office/word/2010/wordprocessingCanvas" xmlns:cx="http://schemas.microsoft.com/office/drawing/2014/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ex="http://schemas.microsoft.com/office/word/2018/wordml/cex" xmlns:w16cid="http://schemas.microsoft.com/office/word/2016/wordml/cid" xmlns:w16="http://schemas.microsoft.com/office/word/2018/wordml"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val="1"/>
            </a:ext>
          </a:extLst>
        </p:spPr>
      </p:pic>
      <p:sp>
        <p:nvSpPr>
          <p:cNvPr id="8" name="CuadroTexto 7"/>
          <p:cNvSpPr txBox="1"/>
          <p:nvPr/>
        </p:nvSpPr>
        <p:spPr>
          <a:xfrm>
            <a:off x="950962" y="1604210"/>
            <a:ext cx="4764505" cy="461665"/>
          </a:xfrm>
          <a:prstGeom prst="rect">
            <a:avLst/>
          </a:prstGeom>
          <a:noFill/>
        </p:spPr>
        <p:txBody>
          <a:bodyPr wrap="square" rtlCol="0">
            <a:spAutoFit/>
          </a:bodyPr>
          <a:lstStyle/>
          <a:p>
            <a:pPr>
              <a:tabLst>
                <a:tab pos="4219575" algn="l"/>
              </a:tabLst>
            </a:pPr>
            <a:r>
              <a:rPr lang="es-ES" sz="2400" b="1" dirty="0">
                <a:latin typeface="Arial" panose="020B0604020202020204" pitchFamily="34" charset="0"/>
                <a:cs typeface="Arial" panose="020B0604020202020204" pitchFamily="34" charset="0"/>
              </a:rPr>
              <a:t>3.2 Población y muestra</a:t>
            </a:r>
            <a:endParaRPr lang="en-US" sz="2400" b="1" dirty="0">
              <a:latin typeface="Arial" panose="020B0604020202020204" pitchFamily="34" charset="0"/>
              <a:cs typeface="Arial" panose="020B0604020202020204" pitchFamily="34" charset="0"/>
            </a:endParaRPr>
          </a:p>
        </p:txBody>
      </p:sp>
      <p:sp>
        <p:nvSpPr>
          <p:cNvPr id="2" name="Rectángulo 1"/>
          <p:cNvSpPr/>
          <p:nvPr/>
        </p:nvSpPr>
        <p:spPr>
          <a:xfrm>
            <a:off x="950962" y="2285071"/>
            <a:ext cx="9437046" cy="3785652"/>
          </a:xfrm>
          <a:prstGeom prst="rect">
            <a:avLst/>
          </a:prstGeom>
        </p:spPr>
        <p:txBody>
          <a:bodyPr wrap="square">
            <a:spAutoFit/>
          </a:bodyPr>
          <a:lstStyle/>
          <a:p>
            <a:pPr algn="just">
              <a:lnSpc>
                <a:spcPct val="150000"/>
              </a:lnSpc>
              <a:spcAft>
                <a:spcPts val="800"/>
              </a:spcAft>
            </a:pPr>
            <a:r>
              <a:rPr lang="es-EC" sz="1800" dirty="0">
                <a:effectLst/>
                <a:latin typeface="Arial" panose="020B0604020202020204" pitchFamily="34" charset="0"/>
                <a:ea typeface="Calibri" panose="020F0502020204030204" pitchFamily="34" charset="0"/>
                <a:cs typeface="Times New Roman" panose="02020603050405020304" pitchFamily="18" charset="0"/>
              </a:rPr>
              <a:t>Donde:</a:t>
            </a:r>
          </a:p>
          <a:p>
            <a:pPr algn="just">
              <a:lnSpc>
                <a:spcPct val="150000"/>
              </a:lnSpc>
              <a:spcAft>
                <a:spcPts val="800"/>
              </a:spcAft>
            </a:pPr>
            <a:r>
              <a:rPr lang="es-EC" sz="1800" dirty="0">
                <a:effectLst/>
                <a:latin typeface="Arial" panose="020B0604020202020204" pitchFamily="34" charset="0"/>
                <a:ea typeface="Calibri" panose="020F0502020204030204" pitchFamily="34" charset="0"/>
                <a:cs typeface="Times New Roman" panose="02020603050405020304" pitchFamily="18" charset="0"/>
              </a:rPr>
              <a:t>N: número total de docentes invitados y personal administrativo que es 51.</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s-EC" sz="1800" dirty="0">
                <a:effectLst/>
                <a:latin typeface="Arial" panose="020B0604020202020204" pitchFamily="34" charset="0"/>
                <a:ea typeface="Calibri" panose="020F0502020204030204" pitchFamily="34" charset="0"/>
                <a:cs typeface="Times New Roman" panose="02020603050405020304" pitchFamily="18" charset="0"/>
              </a:rPr>
              <a:t> Z: nivel de confianza de 95% con un coeficiente de 1,96.</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s-EC" sz="1800" dirty="0">
                <a:effectLst/>
                <a:latin typeface="Arial" panose="020B0604020202020204" pitchFamily="34" charset="0"/>
                <a:ea typeface="Calibri" panose="020F0502020204030204" pitchFamily="34" charset="0"/>
                <a:cs typeface="Times New Roman" panose="02020603050405020304" pitchFamily="18" charset="0"/>
              </a:rPr>
              <a:t> P:  porcentaje de población que tiene el atributo deseado de 0,5. </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s-EC" sz="1800" dirty="0">
                <a:effectLst/>
                <a:latin typeface="Arial" panose="020B0604020202020204" pitchFamily="34" charset="0"/>
                <a:ea typeface="Calibri" panose="020F0502020204030204" pitchFamily="34" charset="0"/>
                <a:cs typeface="Times New Roman" panose="02020603050405020304" pitchFamily="18" charset="0"/>
              </a:rPr>
              <a:t>q: porcentaje de población que no tiene el atributo d de 0,5. </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s-EC" sz="1800" dirty="0">
                <a:effectLst/>
                <a:latin typeface="Arial" panose="020B0604020202020204" pitchFamily="34" charset="0"/>
                <a:ea typeface="Calibri" panose="020F0502020204030204" pitchFamily="34" charset="0"/>
                <a:cs typeface="Times New Roman" panose="02020603050405020304" pitchFamily="18" charset="0"/>
              </a:rPr>
              <a:t> E: valor de error de estimación que será de 5%.</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2000" dirty="0"/>
          </a:p>
        </p:txBody>
      </p:sp>
      <p:pic>
        <p:nvPicPr>
          <p:cNvPr id="5" name="Imagen 4">
            <a:extLst>
              <a:ext uri="{FF2B5EF4-FFF2-40B4-BE49-F238E27FC236}">
                <a16:creationId xmlns:a16="http://schemas.microsoft.com/office/drawing/2014/main" id="{CCDA2E66-B34A-43FB-ED15-EB2DC744EFF1}"/>
              </a:ext>
            </a:extLst>
          </p:cNvPr>
          <p:cNvPicPr>
            <a:picLocks noChangeAspect="1"/>
          </p:cNvPicPr>
          <p:nvPr/>
        </p:nvPicPr>
        <p:blipFill>
          <a:blip r:embed="rId3"/>
          <a:stretch>
            <a:fillRect/>
          </a:stretch>
        </p:blipFill>
        <p:spPr>
          <a:xfrm>
            <a:off x="7659593" y="3222015"/>
            <a:ext cx="5456830" cy="1650076"/>
          </a:xfrm>
          <a:prstGeom prst="rect">
            <a:avLst/>
          </a:prstGeom>
        </p:spPr>
      </p:pic>
    </p:spTree>
    <p:extLst>
      <p:ext uri="{BB962C8B-B14F-4D97-AF65-F5344CB8AC3E}">
        <p14:creationId xmlns:p14="http://schemas.microsoft.com/office/powerpoint/2010/main" val="1693837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37533" y="264000"/>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1026695" y="1582737"/>
            <a:ext cx="6015789" cy="461665"/>
          </a:xfrm>
          <a:prstGeom prst="rect">
            <a:avLst/>
          </a:prstGeom>
          <a:noFill/>
        </p:spPr>
        <p:txBody>
          <a:bodyPr wrap="square" rtlCol="0">
            <a:spAutoFit/>
          </a:bodyPr>
          <a:lstStyle/>
          <a:p>
            <a:pPr>
              <a:tabLst>
                <a:tab pos="4219575" algn="l"/>
              </a:tabLst>
            </a:pPr>
            <a:r>
              <a:rPr lang="es-ES" sz="2400" b="1" dirty="0">
                <a:latin typeface="Arial" panose="020B0604020202020204" pitchFamily="34" charset="0"/>
                <a:cs typeface="Arial" panose="020B0604020202020204" pitchFamily="34" charset="0"/>
              </a:rPr>
              <a:t>3.3 Técnicas e instrumentos</a:t>
            </a:r>
            <a:endParaRPr lang="en-US" sz="2400" b="1" dirty="0">
              <a:latin typeface="Arial" panose="020B0604020202020204" pitchFamily="34" charset="0"/>
              <a:cs typeface="Arial" panose="020B0604020202020204" pitchFamily="34" charset="0"/>
            </a:endParaRPr>
          </a:p>
        </p:txBody>
      </p:sp>
      <p:sp>
        <p:nvSpPr>
          <p:cNvPr id="2" name="Rectángulo 1"/>
          <p:cNvSpPr/>
          <p:nvPr/>
        </p:nvSpPr>
        <p:spPr>
          <a:xfrm>
            <a:off x="1026695" y="2720077"/>
            <a:ext cx="9929690" cy="1631216"/>
          </a:xfrm>
          <a:prstGeom prst="rect">
            <a:avLst/>
          </a:prstGeom>
        </p:spPr>
        <p:txBody>
          <a:bodyPr wrap="square">
            <a:spAutoFit/>
          </a:bodyPr>
          <a:lstStyle/>
          <a:p>
            <a:pPr algn="just"/>
            <a:r>
              <a:rPr lang="es-ES" sz="2000" dirty="0">
                <a:latin typeface="Arial" panose="020B0604020202020204" pitchFamily="34" charset="0"/>
                <a:cs typeface="Arial" panose="020B0604020202020204" pitchFamily="34" charset="0"/>
              </a:rPr>
              <a:t>Resaltar las técnicas e instrumentos que se emplearon para la recopilación de los datos o la información.</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Puede hacer uso de, gráfico, esquema, cuadro, palabras claves, imágenes entre otros. </a:t>
            </a:r>
            <a:endParaRPr lang="en-US" sz="2000" dirty="0"/>
          </a:p>
        </p:txBody>
      </p:sp>
    </p:spTree>
    <p:extLst>
      <p:ext uri="{BB962C8B-B14F-4D97-AF65-F5344CB8AC3E}">
        <p14:creationId xmlns:p14="http://schemas.microsoft.com/office/powerpoint/2010/main" val="1903744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6"/>
            <a:ext cx="12192000" cy="900000"/>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85033" y="301796"/>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1074822" y="1561796"/>
            <a:ext cx="7090610" cy="461665"/>
          </a:xfrm>
          <a:prstGeom prst="rect">
            <a:avLst/>
          </a:prstGeom>
          <a:noFill/>
        </p:spPr>
        <p:txBody>
          <a:bodyPr wrap="square" rtlCol="0">
            <a:spAutoFit/>
          </a:bodyPr>
          <a:lstStyle/>
          <a:p>
            <a:pPr>
              <a:tabLst>
                <a:tab pos="4219575" algn="l"/>
              </a:tabLst>
            </a:pPr>
            <a:r>
              <a:rPr lang="es-ES" sz="2400" b="1" dirty="0">
                <a:latin typeface="Arial" panose="020B0604020202020204" pitchFamily="34" charset="0"/>
                <a:cs typeface="Arial" panose="020B0604020202020204" pitchFamily="34" charset="0"/>
              </a:rPr>
              <a:t>3.4 Validez y Confiabilidad</a:t>
            </a:r>
            <a:endParaRPr lang="en-US" sz="2400" b="1" dirty="0">
              <a:latin typeface="Arial" panose="020B0604020202020204" pitchFamily="34" charset="0"/>
              <a:cs typeface="Arial" panose="020B0604020202020204" pitchFamily="34" charset="0"/>
            </a:endParaRPr>
          </a:p>
        </p:txBody>
      </p:sp>
      <p:sp>
        <p:nvSpPr>
          <p:cNvPr id="2" name="Rectángulo 1"/>
          <p:cNvSpPr/>
          <p:nvPr/>
        </p:nvSpPr>
        <p:spPr>
          <a:xfrm>
            <a:off x="1074822" y="2709607"/>
            <a:ext cx="10057466" cy="1323439"/>
          </a:xfrm>
          <a:prstGeom prst="rect">
            <a:avLst/>
          </a:prstGeom>
        </p:spPr>
        <p:txBody>
          <a:bodyPr wrap="square">
            <a:spAutoFit/>
          </a:bodyPr>
          <a:lstStyle/>
          <a:p>
            <a:pPr algn="just"/>
            <a:r>
              <a:rPr lang="es-ES" sz="2000" dirty="0">
                <a:latin typeface="Arial" panose="020B0604020202020204" pitchFamily="34" charset="0"/>
                <a:cs typeface="Arial" panose="020B0604020202020204" pitchFamily="34" charset="0"/>
              </a:rPr>
              <a:t>Señalar como se realizó la validez y confiabilidad de los instrumentos en caso de aplicar.</a:t>
            </a:r>
          </a:p>
          <a:p>
            <a:endParaRPr lang="es-ES" sz="2000" dirty="0">
              <a:latin typeface="Arial" panose="020B0604020202020204" pitchFamily="34" charset="0"/>
              <a:cs typeface="Arial" panose="020B0604020202020204" pitchFamily="34" charset="0"/>
            </a:endParaRPr>
          </a:p>
          <a:p>
            <a:r>
              <a:rPr lang="es-ES" sz="2000" dirty="0">
                <a:latin typeface="Arial" panose="020B0604020202020204" pitchFamily="34" charset="0"/>
                <a:cs typeface="Arial" panose="020B0604020202020204" pitchFamily="34" charset="0"/>
              </a:rPr>
              <a:t>Puede hacer uso de gráfico, esquema, cuadro, palabras claves, imágenes entre otros.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5694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79465" y="192198"/>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2" name="Rectángulo 1"/>
          <p:cNvSpPr/>
          <p:nvPr/>
        </p:nvSpPr>
        <p:spPr>
          <a:xfrm>
            <a:off x="978569" y="3891991"/>
            <a:ext cx="9401792" cy="707886"/>
          </a:xfrm>
          <a:prstGeom prst="rect">
            <a:avLst/>
          </a:prstGeom>
        </p:spPr>
        <p:txBody>
          <a:bodyPr wrap="square">
            <a:spAutoFit/>
          </a:bodyPr>
          <a:lstStyle/>
          <a:p>
            <a:pPr algn="just"/>
            <a:r>
              <a:rPr lang="es-ES" sz="2000" dirty="0">
                <a:latin typeface="Arial" panose="020B0604020202020204" pitchFamily="34" charset="0"/>
                <a:cs typeface="Arial" panose="020B0604020202020204" pitchFamily="34" charset="0"/>
              </a:rPr>
              <a:t>Puede hacer uso de gráfico, esquema, cuadro, palabras claves, imágenes entre otros. </a:t>
            </a:r>
            <a:endParaRPr lang="en-US" sz="2000" dirty="0"/>
          </a:p>
        </p:txBody>
      </p:sp>
      <p:sp>
        <p:nvSpPr>
          <p:cNvPr id="8" name="CuadroTexto 7"/>
          <p:cNvSpPr txBox="1"/>
          <p:nvPr/>
        </p:nvSpPr>
        <p:spPr>
          <a:xfrm>
            <a:off x="978569" y="1561796"/>
            <a:ext cx="8325852" cy="461665"/>
          </a:xfrm>
          <a:prstGeom prst="rect">
            <a:avLst/>
          </a:prstGeom>
          <a:noFill/>
        </p:spPr>
        <p:txBody>
          <a:bodyPr wrap="square" rtlCol="0">
            <a:spAutoFit/>
          </a:bodyPr>
          <a:lstStyle/>
          <a:p>
            <a:pPr>
              <a:tabLst>
                <a:tab pos="4219575" algn="l"/>
              </a:tabLst>
            </a:pPr>
            <a:r>
              <a:rPr lang="es-ES" sz="2400" b="1" dirty="0">
                <a:latin typeface="Arial" panose="020B0604020202020204" pitchFamily="34" charset="0"/>
                <a:cs typeface="Arial" panose="020B0604020202020204" pitchFamily="34" charset="0"/>
              </a:rPr>
              <a:t>3.5 Procedimientos para el análisis de los datos</a:t>
            </a:r>
            <a:endParaRPr lang="en-US" sz="2400" b="1" dirty="0">
              <a:latin typeface="Arial" panose="020B0604020202020204" pitchFamily="34" charset="0"/>
              <a:cs typeface="Arial" panose="020B0604020202020204" pitchFamily="34" charset="0"/>
            </a:endParaRPr>
          </a:p>
        </p:txBody>
      </p:sp>
      <p:sp>
        <p:nvSpPr>
          <p:cNvPr id="3" name="Rectángulo 2"/>
          <p:cNvSpPr/>
          <p:nvPr/>
        </p:nvSpPr>
        <p:spPr>
          <a:xfrm>
            <a:off x="978569" y="2657132"/>
            <a:ext cx="9429211" cy="1015663"/>
          </a:xfrm>
          <a:prstGeom prst="rect">
            <a:avLst/>
          </a:prstGeom>
        </p:spPr>
        <p:txBody>
          <a:bodyPr wrap="square">
            <a:spAutoFit/>
          </a:bodyPr>
          <a:lstStyle/>
          <a:p>
            <a:pPr algn="just"/>
            <a:r>
              <a:rPr lang="es-ES" sz="2000" dirty="0">
                <a:latin typeface="Arial" panose="020B0604020202020204" pitchFamily="34" charset="0"/>
                <a:cs typeface="Arial" panose="020B0604020202020204" pitchFamily="34" charset="0"/>
              </a:rPr>
              <a:t>Destacar los procedimientos a emplear para el análisis de los datos. Si es cualitativo cambiar el titulo de esta diapositiva por procedimientos para el análisis de la información.</a:t>
            </a:r>
          </a:p>
        </p:txBody>
      </p:sp>
    </p:spTree>
    <p:extLst>
      <p:ext uri="{BB962C8B-B14F-4D97-AF65-F5344CB8AC3E}">
        <p14:creationId xmlns:p14="http://schemas.microsoft.com/office/powerpoint/2010/main" val="2781935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49408" y="138179"/>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1026696" y="2064037"/>
            <a:ext cx="9721516" cy="2585323"/>
          </a:xfrm>
          <a:prstGeom prst="rect">
            <a:avLst/>
          </a:prstGeom>
          <a:noFill/>
        </p:spPr>
        <p:txBody>
          <a:bodyPr wrap="square" rtlCol="0">
            <a:spAutoFit/>
          </a:bodyPr>
          <a:lstStyle/>
          <a:p>
            <a:pPr algn="ctr"/>
            <a:r>
              <a:rPr lang="es-ES" sz="5400" b="1" dirty="0">
                <a:latin typeface="Arial" panose="020B0604020202020204" pitchFamily="34" charset="0"/>
                <a:cs typeface="Arial" panose="020B0604020202020204" pitchFamily="34" charset="0"/>
              </a:rPr>
              <a:t>CAPÍTULO #4</a:t>
            </a:r>
          </a:p>
          <a:p>
            <a:pPr algn="ctr"/>
            <a:r>
              <a:rPr lang="es-ES" sz="5400" b="1" dirty="0">
                <a:latin typeface="Arial" panose="020B0604020202020204" pitchFamily="34" charset="0"/>
                <a:cs typeface="Arial" panose="020B0604020202020204" pitchFamily="34" charset="0"/>
              </a:rPr>
              <a:t>RESULTADOS E INTERPRETACIÓN</a:t>
            </a:r>
            <a:endParaRPr lang="en-US" sz="4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8009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25657" y="270287"/>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978569" y="1561796"/>
            <a:ext cx="8325852" cy="461665"/>
          </a:xfrm>
          <a:prstGeom prst="rect">
            <a:avLst/>
          </a:prstGeom>
          <a:noFill/>
        </p:spPr>
        <p:txBody>
          <a:bodyPr wrap="square" rtlCol="0">
            <a:spAutoFit/>
          </a:bodyPr>
          <a:lstStyle/>
          <a:p>
            <a:pPr>
              <a:tabLst>
                <a:tab pos="4219575" algn="l"/>
              </a:tabLst>
            </a:pPr>
            <a:r>
              <a:rPr lang="es-ES" sz="2400" b="1" dirty="0">
                <a:latin typeface="Arial" panose="020B0604020202020204" pitchFamily="34" charset="0"/>
                <a:cs typeface="Arial" panose="020B0604020202020204" pitchFamily="34" charset="0"/>
              </a:rPr>
              <a:t>4.1 Resultados de la investigación</a:t>
            </a:r>
            <a:endParaRPr lang="en-US" sz="2400" b="1" dirty="0">
              <a:latin typeface="Arial" panose="020B0604020202020204" pitchFamily="34" charset="0"/>
              <a:cs typeface="Arial" panose="020B0604020202020204" pitchFamily="34" charset="0"/>
            </a:endParaRPr>
          </a:p>
        </p:txBody>
      </p:sp>
      <p:sp>
        <p:nvSpPr>
          <p:cNvPr id="9" name="Rectángulo 8"/>
          <p:cNvSpPr/>
          <p:nvPr/>
        </p:nvSpPr>
        <p:spPr>
          <a:xfrm>
            <a:off x="978569" y="2470961"/>
            <a:ext cx="9515766" cy="3447098"/>
          </a:xfrm>
          <a:prstGeom prst="rect">
            <a:avLst/>
          </a:prstGeom>
        </p:spPr>
        <p:txBody>
          <a:bodyPr wrap="square">
            <a:spAutoFit/>
          </a:bodyPr>
          <a:lstStyle/>
          <a:p>
            <a:pPr algn="just"/>
            <a:r>
              <a:rPr lang="es-ES" sz="2000" dirty="0">
                <a:latin typeface="Arial" panose="020B0604020202020204" pitchFamily="34" charset="0"/>
                <a:cs typeface="Arial" panose="020B0604020202020204" pitchFamily="34" charset="0"/>
              </a:rPr>
              <a:t>Presentar los resultados relevantes de la investigación, debe incluir propuestas técnicas, protocolos o productos generados en el Trabajo de Titulación.</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Deben concentrar un importante tiempo de su presentación para exponer de forma clara los resultados.</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La cantidad de diapositiva va a depender de la relevancia de los datos que desee mostrar. </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Puede hacer uso de, gráfico, esquema, cuadro, tablas, entre otros. </a:t>
            </a:r>
          </a:p>
          <a:p>
            <a:pPr algn="just"/>
            <a:endParaRPr lang="es-E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30987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25657" y="138179"/>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1235242" y="1993495"/>
            <a:ext cx="9721516" cy="2585323"/>
          </a:xfrm>
          <a:prstGeom prst="rect">
            <a:avLst/>
          </a:prstGeom>
          <a:noFill/>
        </p:spPr>
        <p:txBody>
          <a:bodyPr wrap="square" rtlCol="0">
            <a:spAutoFit/>
          </a:bodyPr>
          <a:lstStyle/>
          <a:p>
            <a:pPr algn="ctr"/>
            <a:r>
              <a:rPr lang="es-ES" sz="5400" b="1" dirty="0">
                <a:latin typeface="Arial" panose="020B0604020202020204" pitchFamily="34" charset="0"/>
                <a:cs typeface="Arial" panose="020B0604020202020204" pitchFamily="34" charset="0"/>
              </a:rPr>
              <a:t>CAPÍTULO #5</a:t>
            </a:r>
          </a:p>
          <a:p>
            <a:pPr algn="ctr"/>
            <a:r>
              <a:rPr lang="es-ES" sz="5400" b="1" dirty="0">
                <a:latin typeface="Arial" panose="020B0604020202020204" pitchFamily="34" charset="0"/>
                <a:cs typeface="Arial" panose="020B0604020202020204" pitchFamily="34" charset="0"/>
              </a:rPr>
              <a:t>CONCLUSIONES Y RECOMENDACIONES</a:t>
            </a:r>
            <a:endParaRPr lang="en-US" sz="4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8222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cstate="print">
            <a:extLst>
              <a:ext uri="{28A0092B-C50C-407E-A947-70E740481C1C}">
                <a14:useLocalDpi xmlns:a14="http://schemas.microsoft.com/office/drawing/2010/main" val="0"/>
              </a:ext>
            </a:extLst>
          </a:blip>
          <a:stretch>
            <a:fillRect/>
          </a:stretch>
        </p:blipFill>
        <p:spPr>
          <a:xfrm>
            <a:off x="1161283" y="299030"/>
            <a:ext cx="9000000" cy="1260000"/>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978569" y="1561796"/>
            <a:ext cx="8325852" cy="461665"/>
          </a:xfrm>
          <a:prstGeom prst="rect">
            <a:avLst/>
          </a:prstGeom>
          <a:noFill/>
        </p:spPr>
        <p:txBody>
          <a:bodyPr wrap="square" rtlCol="0">
            <a:spAutoFit/>
          </a:bodyPr>
          <a:lstStyle/>
          <a:p>
            <a:pPr>
              <a:tabLst>
                <a:tab pos="4219575" algn="l"/>
              </a:tabLst>
            </a:pPr>
            <a:r>
              <a:rPr lang="es-ES" sz="2400" b="1" dirty="0">
                <a:latin typeface="Arial" panose="020B0604020202020204" pitchFamily="34" charset="0"/>
                <a:cs typeface="Arial" panose="020B0604020202020204" pitchFamily="34" charset="0"/>
              </a:rPr>
              <a:t>5.1 Conclusiones</a:t>
            </a:r>
            <a:endParaRPr lang="en-US" sz="2400" b="1" dirty="0">
              <a:latin typeface="Arial" panose="020B0604020202020204" pitchFamily="34" charset="0"/>
              <a:cs typeface="Arial" panose="020B0604020202020204" pitchFamily="34" charset="0"/>
            </a:endParaRPr>
          </a:p>
        </p:txBody>
      </p:sp>
      <p:sp>
        <p:nvSpPr>
          <p:cNvPr id="2" name="Rectángulo 1"/>
          <p:cNvSpPr/>
          <p:nvPr/>
        </p:nvSpPr>
        <p:spPr>
          <a:xfrm>
            <a:off x="978569" y="2594672"/>
            <a:ext cx="10019599" cy="1631216"/>
          </a:xfrm>
          <a:prstGeom prst="rect">
            <a:avLst/>
          </a:prstGeom>
        </p:spPr>
        <p:txBody>
          <a:bodyPr wrap="square">
            <a:spAutoFit/>
          </a:bodyPr>
          <a:lstStyle/>
          <a:p>
            <a:r>
              <a:rPr lang="es-ES" sz="2000" b="0" i="0" dirty="0">
                <a:solidFill>
                  <a:srgbClr val="444444"/>
                </a:solidFill>
                <a:effectLst/>
                <a:latin typeface="Arial" panose="020B0604020202020204" pitchFamily="34" charset="0"/>
                <a:cs typeface="Arial" panose="020B0604020202020204" pitchFamily="34" charset="0"/>
              </a:rPr>
              <a:t>Sintetizar las ideas centrales obtenidas en el Trabajo de Titulación en relación con el cumplimiento de los objetivos.</a:t>
            </a:r>
          </a:p>
          <a:p>
            <a:endParaRPr lang="es-ES" sz="2000" dirty="0">
              <a:solidFill>
                <a:srgbClr val="444444"/>
              </a:solidFill>
              <a:latin typeface="Arial" panose="020B0604020202020204" pitchFamily="34" charset="0"/>
              <a:cs typeface="Arial" panose="020B0604020202020204" pitchFamily="34" charset="0"/>
            </a:endParaRPr>
          </a:p>
          <a:p>
            <a:r>
              <a:rPr lang="es-ES" sz="2000" dirty="0">
                <a:latin typeface="Arial" panose="020B0604020202020204" pitchFamily="34" charset="0"/>
                <a:cs typeface="Arial" panose="020B0604020202020204" pitchFamily="34" charset="0"/>
              </a:rPr>
              <a:t>Puede hacer uso de, gráfico, esquema, cuadro, tablas, entre otros. </a:t>
            </a:r>
          </a:p>
          <a:p>
            <a:pPr algn="ct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0368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o 9"/>
          <p:cNvGrpSpPr/>
          <p:nvPr/>
        </p:nvGrpSpPr>
        <p:grpSpPr>
          <a:xfrm>
            <a:off x="0" y="5981077"/>
            <a:ext cx="12192000" cy="892965"/>
            <a:chOff x="0" y="0"/>
            <a:chExt cx="12192000" cy="892965"/>
          </a:xfrm>
        </p:grpSpPr>
        <p:sp>
          <p:nvSpPr>
            <p:cNvPr id="6" name="CuadroTexto 5"/>
            <p:cNvSpPr txBox="1"/>
            <p:nvPr/>
          </p:nvSpPr>
          <p:spPr>
            <a:xfrm>
              <a:off x="0" y="219196"/>
              <a:ext cx="12192000" cy="673769"/>
            </a:xfrm>
            <a:prstGeom prst="rect">
              <a:avLst/>
            </a:prstGeom>
            <a:solidFill>
              <a:srgbClr val="FFCC00"/>
            </a:solidFill>
          </p:spPr>
          <p:txBody>
            <a:bodyPr wrap="square" rtlCol="0">
              <a:spAutoFit/>
            </a:bodyPr>
            <a:lstStyle/>
            <a:p>
              <a:endParaRPr lang="en-US" dirty="0"/>
            </a:p>
          </p:txBody>
        </p:sp>
        <p:sp>
          <p:nvSpPr>
            <p:cNvPr id="7" name="CuadroTexto 6"/>
            <p:cNvSpPr txBox="1"/>
            <p:nvPr/>
          </p:nvSpPr>
          <p:spPr>
            <a:xfrm>
              <a:off x="0" y="0"/>
              <a:ext cx="12192000" cy="673769"/>
            </a:xfrm>
            <a:prstGeom prst="rect">
              <a:avLst/>
            </a:prstGeom>
            <a:solidFill>
              <a:schemeClr val="accent5">
                <a:lumMod val="50000"/>
              </a:schemeClr>
            </a:solidFill>
          </p:spPr>
          <p:txBody>
            <a:bodyPr wrap="square" rtlCol="0">
              <a:spAutoFit/>
            </a:bodyPr>
            <a:lstStyle/>
            <a:p>
              <a:endParaRPr lang="en-US" dirty="0"/>
            </a:p>
          </p:txBody>
        </p:sp>
      </p:grpSp>
      <p:pic>
        <p:nvPicPr>
          <p:cNvPr id="11" name="Placeholder"/>
          <p:cNvPicPr/>
          <p:nvPr/>
        </p:nvPicPr>
        <p:blipFill>
          <a:blip r:embed="rId2">
            <a:extLst>
              <a:ext uri="{28A0092B-C50C-407E-A947-70E740481C1C}">
                <a14:useLocalDpi xmlns:a14="http://schemas.microsoft.com/office/drawing/2010/main" val="0"/>
              </a:ext>
            </a:extLst>
          </a:blip>
          <a:stretch>
            <a:fillRect/>
          </a:stretch>
        </p:blipFill>
        <p:spPr>
          <a:xfrm>
            <a:off x="721896" y="208547"/>
            <a:ext cx="10684042" cy="1395663"/>
          </a:xfrm>
          <a:prstGeom prst="rect">
            <a:avLst/>
          </a:prstGeom>
          <a:extLst>
            <a:ext uri="{FAA26D3D-D897-4be2-8F04-BA451C77F1D7}">
              <ma14:placeholder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http://schemas.microsoft.com/office/word/2018/wordml" xmlns:w16cid="http://schemas.microsoft.com/office/word/2016/wordml/cid" xmlns:w16cex="http://schemas.microsoft.com/office/word/2018/wordml/cex"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http://schemas.microsoft.com/office/drawing/2014/chartex" xmlns:wpc="http://schemas.microsoft.com/office/word/2010/wordprocessingCanvas" val="1"/>
            </a:ext>
          </a:extLst>
        </p:spPr>
      </p:pic>
      <p:sp>
        <p:nvSpPr>
          <p:cNvPr id="8" name="CuadroTexto 7"/>
          <p:cNvSpPr txBox="1"/>
          <p:nvPr/>
        </p:nvSpPr>
        <p:spPr>
          <a:xfrm>
            <a:off x="978569" y="1561796"/>
            <a:ext cx="8325852" cy="461665"/>
          </a:xfrm>
          <a:prstGeom prst="rect">
            <a:avLst/>
          </a:prstGeom>
          <a:noFill/>
        </p:spPr>
        <p:txBody>
          <a:bodyPr wrap="square" rtlCol="0">
            <a:spAutoFit/>
          </a:bodyPr>
          <a:lstStyle/>
          <a:p>
            <a:pPr>
              <a:tabLst>
                <a:tab pos="4219575" algn="l"/>
              </a:tabLst>
            </a:pPr>
            <a:r>
              <a:rPr lang="es-ES" sz="2400" b="1" dirty="0">
                <a:latin typeface="Arial" panose="020B0604020202020204" pitchFamily="34" charset="0"/>
                <a:cs typeface="Arial" panose="020B0604020202020204" pitchFamily="34" charset="0"/>
              </a:rPr>
              <a:t>5.2 Recomendaciones</a:t>
            </a:r>
            <a:endParaRPr lang="en-US" sz="2400" b="1" dirty="0">
              <a:latin typeface="Arial" panose="020B0604020202020204" pitchFamily="34" charset="0"/>
              <a:cs typeface="Arial" panose="020B0604020202020204" pitchFamily="34" charset="0"/>
            </a:endParaRPr>
          </a:p>
        </p:txBody>
      </p:sp>
      <p:sp>
        <p:nvSpPr>
          <p:cNvPr id="2" name="Rectángulo 1"/>
          <p:cNvSpPr/>
          <p:nvPr/>
        </p:nvSpPr>
        <p:spPr>
          <a:xfrm>
            <a:off x="978569" y="2345659"/>
            <a:ext cx="8272130" cy="1938992"/>
          </a:xfrm>
          <a:prstGeom prst="rect">
            <a:avLst/>
          </a:prstGeom>
        </p:spPr>
        <p:txBody>
          <a:bodyPr wrap="square">
            <a:spAutoFit/>
          </a:bodyPr>
          <a:lstStyle/>
          <a:p>
            <a:r>
              <a:rPr lang="es-ES" sz="2000" dirty="0">
                <a:latin typeface="Arial" panose="020B0604020202020204" pitchFamily="34" charset="0"/>
                <a:cs typeface="Arial" panose="020B0604020202020204" pitchFamily="34" charset="0"/>
              </a:rPr>
              <a:t>Proporcionar sugerencias a la luz de los resultados.</a:t>
            </a:r>
          </a:p>
          <a:p>
            <a:endParaRPr lang="es-ES" sz="2000" dirty="0">
              <a:latin typeface="Arial" panose="020B0604020202020204" pitchFamily="34" charset="0"/>
              <a:cs typeface="Arial" panose="020B0604020202020204" pitchFamily="34" charset="0"/>
            </a:endParaRPr>
          </a:p>
          <a:p>
            <a:r>
              <a:rPr lang="es-ES" sz="2000" dirty="0">
                <a:latin typeface="Arial" panose="020B0604020202020204" pitchFamily="34" charset="0"/>
                <a:cs typeface="Arial" panose="020B0604020202020204" pitchFamily="34" charset="0"/>
              </a:rPr>
              <a:t>Puede hacer uso de, gráfico, esquema, cuadro, tablas, entre otros. </a:t>
            </a:r>
          </a:p>
          <a:p>
            <a:endParaRPr lang="es-ES" sz="2000" dirty="0">
              <a:latin typeface="Arial" panose="020B0604020202020204" pitchFamily="34" charset="0"/>
              <a:cs typeface="Arial" panose="020B0604020202020204" pitchFamily="34" charset="0"/>
            </a:endParaRPr>
          </a:p>
          <a:p>
            <a:endParaRPr lang="es-ES" sz="2000" dirty="0"/>
          </a:p>
          <a:p>
            <a:endParaRPr lang="en-US" sz="2000" dirty="0"/>
          </a:p>
        </p:txBody>
      </p:sp>
    </p:spTree>
    <p:extLst>
      <p:ext uri="{BB962C8B-B14F-4D97-AF65-F5344CB8AC3E}">
        <p14:creationId xmlns:p14="http://schemas.microsoft.com/office/powerpoint/2010/main" val="193060173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3526</TotalTime>
  <Words>1838</Words>
  <Application>Microsoft Office PowerPoint</Application>
  <PresentationFormat>Panorámica</PresentationFormat>
  <Paragraphs>112</Paragraphs>
  <Slides>30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30</vt:i4>
      </vt:variant>
    </vt:vector>
  </HeadingPairs>
  <TitlesOfParts>
    <vt:vector size="35" baseType="lpstr">
      <vt:lpstr>Arial</vt:lpstr>
      <vt:lpstr>Calibri</vt:lpstr>
      <vt:lpstr>Calibri Light</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andrea vidanovic jeremich</dc:creator>
  <cp:lastModifiedBy>DAGMAR NATALIA MOYA ALBAN</cp:lastModifiedBy>
  <cp:revision>47</cp:revision>
  <dcterms:created xsi:type="dcterms:W3CDTF">2020-08-05T15:44:45Z</dcterms:created>
  <dcterms:modified xsi:type="dcterms:W3CDTF">2023-02-06T23:56:14Z</dcterms:modified>
</cp:coreProperties>
</file>